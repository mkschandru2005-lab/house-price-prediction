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9665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B6D4"/>
          </a:solidFill>
          <a:ln w="12700">
            <a:solidFill>
              <a:srgbClr val="06B6D4"/>
            </a:solidFill>
            <a:prstDash val="solid"/>
          </a:ln>
        </p:spPr>
      </p:sp>
      <p:sp>
        <p:nvSpPr>
          <p:cNvPr id="4" name="Text 2"/>
          <p:cNvSpPr/>
          <p:nvPr/>
        </p:nvSpPr>
        <p:spPr>
          <a:xfrm>
            <a:off x="2651761" y="502920"/>
            <a:ext cx="5486400" cy="82296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HOUSING PRICE</a:t>
            </a:r>
          </a:p>
        </p:txBody>
      </p:sp>
      <p:sp>
        <p:nvSpPr>
          <p:cNvPr id="5" name="Text 3"/>
          <p:cNvSpPr/>
          <p:nvPr/>
        </p:nvSpPr>
        <p:spPr>
          <a:xfrm>
            <a:off x="3200400" y="1425057"/>
            <a:ext cx="5486400" cy="822960"/>
          </a:xfrm>
          <a:prstGeom prst="rect">
            <a:avLst/>
          </a:prstGeom>
          <a:noFill/>
          <a:ln/>
        </p:spPr>
        <p:txBody>
          <a:bodyPr wrap="square" rtlCol="0" anchor="ctr"/>
          <a:lstStyle/>
          <a:p>
            <a:pPr marL="0" indent="0">
              <a:buNone/>
            </a:pPr>
            <a:r>
              <a:rPr lang="en-US" sz="4400" b="1" dirty="0">
                <a:solidFill>
                  <a:srgbClr val="06B6D4"/>
                </a:solidFill>
                <a:latin typeface="Calibri" pitchFamily="34" charset="0"/>
                <a:ea typeface="Calibri" pitchFamily="34" charset="-122"/>
                <a:cs typeface="Calibri" pitchFamily="34" charset="-120"/>
              </a:rPr>
              <a:t>PREDICTION</a:t>
            </a:r>
            <a:endParaRPr lang="en-US" sz="4400" dirty="0"/>
          </a:p>
        </p:txBody>
      </p:sp>
      <p:sp>
        <p:nvSpPr>
          <p:cNvPr id="6" name="Text 4"/>
          <p:cNvSpPr/>
          <p:nvPr/>
        </p:nvSpPr>
        <p:spPr>
          <a:xfrm>
            <a:off x="457200" y="2743200"/>
            <a:ext cx="5486400" cy="457200"/>
          </a:xfrm>
          <a:prstGeom prst="rect">
            <a:avLst/>
          </a:prstGeom>
          <a:noFill/>
          <a:ln/>
        </p:spPr>
        <p:txBody>
          <a:bodyPr wrap="square" rtlCol="0" anchor="ctr"/>
          <a:lstStyle/>
          <a:p>
            <a:pPr marL="0" indent="0">
              <a:buNone/>
            </a:pPr>
            <a:endParaRPr lang="en-US" sz="1500" dirty="0"/>
          </a:p>
        </p:txBody>
      </p:sp>
      <p:sp>
        <p:nvSpPr>
          <p:cNvPr id="7" name="Text 5"/>
          <p:cNvSpPr/>
          <p:nvPr/>
        </p:nvSpPr>
        <p:spPr>
          <a:xfrm>
            <a:off x="457200" y="3291840"/>
            <a:ext cx="5486400" cy="365760"/>
          </a:xfrm>
          <a:prstGeom prst="rect">
            <a:avLst/>
          </a:prstGeom>
          <a:noFill/>
          <a:ln/>
        </p:spPr>
        <p:txBody>
          <a:bodyPr wrap="square" rtlCol="0" anchor="ctr"/>
          <a:lstStyle/>
          <a:p>
            <a:pPr marL="0" indent="0">
              <a:buNone/>
            </a:pPr>
            <a:endParaRPr lang="en-US" sz="1300" dirty="0"/>
          </a:p>
        </p:txBody>
      </p:sp>
      <p:sp>
        <p:nvSpPr>
          <p:cNvPr id="8" name="Text 6"/>
          <p:cNvSpPr/>
          <p:nvPr/>
        </p:nvSpPr>
        <p:spPr>
          <a:xfrm>
            <a:off x="6492240" y="1005840"/>
            <a:ext cx="2377440" cy="640080"/>
          </a:xfrm>
          <a:prstGeom prst="rect">
            <a:avLst/>
          </a:prstGeom>
          <a:noFill/>
          <a:ln/>
        </p:spPr>
        <p:txBody>
          <a:bodyPr wrap="square" rtlCol="0" anchor="ctr"/>
          <a:lstStyle/>
          <a:p>
            <a:pPr marL="0" indent="0" algn="ctr">
              <a:buNone/>
            </a:pPr>
            <a:endParaRPr lang="en-US" sz="3000" dirty="0"/>
          </a:p>
        </p:txBody>
      </p:sp>
      <p:sp>
        <p:nvSpPr>
          <p:cNvPr id="9" name="Text 7"/>
          <p:cNvSpPr/>
          <p:nvPr/>
        </p:nvSpPr>
        <p:spPr>
          <a:xfrm>
            <a:off x="6492240" y="1600200"/>
            <a:ext cx="2377440" cy="320040"/>
          </a:xfrm>
          <a:prstGeom prst="rect">
            <a:avLst/>
          </a:prstGeom>
          <a:noFill/>
          <a:ln/>
        </p:spPr>
        <p:txBody>
          <a:bodyPr wrap="square" rtlCol="0" anchor="ctr"/>
          <a:lstStyle/>
          <a:p>
            <a:pPr marL="0" indent="0" algn="ctr">
              <a:buNone/>
            </a:pPr>
            <a:endParaRPr lang="en-US" sz="1300" dirty="0"/>
          </a:p>
        </p:txBody>
      </p:sp>
      <p:sp>
        <p:nvSpPr>
          <p:cNvPr id="10" name="Text 8"/>
          <p:cNvSpPr/>
          <p:nvPr/>
        </p:nvSpPr>
        <p:spPr>
          <a:xfrm>
            <a:off x="6492240" y="2286000"/>
            <a:ext cx="2377440" cy="640080"/>
          </a:xfrm>
          <a:prstGeom prst="rect">
            <a:avLst/>
          </a:prstGeom>
          <a:noFill/>
          <a:ln/>
        </p:spPr>
        <p:txBody>
          <a:bodyPr wrap="square" rtlCol="0" anchor="ctr"/>
          <a:lstStyle/>
          <a:p>
            <a:pPr marL="0" indent="0" algn="ctr">
              <a:buNone/>
            </a:pPr>
            <a:endParaRPr lang="en-US" sz="3000" dirty="0"/>
          </a:p>
        </p:txBody>
      </p:sp>
      <p:sp>
        <p:nvSpPr>
          <p:cNvPr id="11" name="Text 9"/>
          <p:cNvSpPr/>
          <p:nvPr/>
        </p:nvSpPr>
        <p:spPr>
          <a:xfrm>
            <a:off x="6492240" y="2880360"/>
            <a:ext cx="2377440" cy="320040"/>
          </a:xfrm>
          <a:prstGeom prst="rect">
            <a:avLst/>
          </a:prstGeom>
          <a:noFill/>
          <a:ln/>
        </p:spPr>
        <p:txBody>
          <a:bodyPr wrap="square" rtlCol="0" anchor="ctr"/>
          <a:lstStyle/>
          <a:p>
            <a:pPr marL="0" indent="0" algn="ctr">
              <a:buNone/>
            </a:pPr>
            <a:endParaRPr lang="en-US" sz="1300" dirty="0"/>
          </a:p>
        </p:txBody>
      </p:sp>
      <p:sp>
        <p:nvSpPr>
          <p:cNvPr id="12" name="Text 10"/>
          <p:cNvSpPr/>
          <p:nvPr/>
        </p:nvSpPr>
        <p:spPr>
          <a:xfrm>
            <a:off x="6492240" y="3566160"/>
            <a:ext cx="2377440" cy="640080"/>
          </a:xfrm>
          <a:prstGeom prst="rect">
            <a:avLst/>
          </a:prstGeom>
          <a:noFill/>
          <a:ln/>
        </p:spPr>
        <p:txBody>
          <a:bodyPr wrap="square" rtlCol="0" anchor="ctr"/>
          <a:lstStyle/>
          <a:p>
            <a:pPr marL="0" indent="0" algn="ctr">
              <a:buNone/>
            </a:pPr>
            <a:endParaRPr lang="en-US" sz="3000" dirty="0"/>
          </a:p>
        </p:txBody>
      </p:sp>
      <p:sp>
        <p:nvSpPr>
          <p:cNvPr id="13" name="Text 11"/>
          <p:cNvSpPr/>
          <p:nvPr/>
        </p:nvSpPr>
        <p:spPr>
          <a:xfrm>
            <a:off x="6492240" y="4160520"/>
            <a:ext cx="2377440" cy="320040"/>
          </a:xfrm>
          <a:prstGeom prst="rect">
            <a:avLst/>
          </a:prstGeom>
          <a:noFill/>
          <a:ln/>
        </p:spPr>
        <p:txBody>
          <a:bodyPr wrap="square" rtlCol="0" anchor="ctr"/>
          <a:lstStyle/>
          <a:p>
            <a:pPr marL="0" indent="0" algn="ctr">
              <a:buNone/>
            </a:pPr>
            <a:endParaRPr lang="en-US" sz="1300" dirty="0"/>
          </a:p>
        </p:txBody>
      </p:sp>
      <p:sp>
        <p:nvSpPr>
          <p:cNvPr id="14" name="Shape 12"/>
          <p:cNvSpPr/>
          <p:nvPr/>
        </p:nvSpPr>
        <p:spPr>
          <a:xfrm>
            <a:off x="0" y="5070348"/>
            <a:ext cx="9144000" cy="73152"/>
          </a:xfrm>
          <a:prstGeom prst="rect">
            <a:avLst/>
          </a:prstGeom>
          <a:solidFill>
            <a:srgbClr val="2563EB"/>
          </a:solidFill>
          <a:ln w="12700">
            <a:solidFill>
              <a:srgbClr val="2563EB"/>
            </a:solidFill>
            <a:prstDash val="solid"/>
          </a:ln>
        </p:spPr>
      </p:sp>
      <p:sp>
        <p:nvSpPr>
          <p:cNvPr id="15" name="TextBox 14">
            <a:extLst>
              <a:ext uri="{FF2B5EF4-FFF2-40B4-BE49-F238E27FC236}">
                <a16:creationId xmlns:a16="http://schemas.microsoft.com/office/drawing/2014/main" id="{2740987A-17D2-EAED-291D-53CAAF73B0FB}"/>
              </a:ext>
            </a:extLst>
          </p:cNvPr>
          <p:cNvSpPr txBox="1"/>
          <p:nvPr/>
        </p:nvSpPr>
        <p:spPr>
          <a:xfrm>
            <a:off x="724486" y="3474720"/>
            <a:ext cx="5577553" cy="1077218"/>
          </a:xfrm>
          <a:prstGeom prst="rect">
            <a:avLst/>
          </a:prstGeom>
          <a:noFill/>
        </p:spPr>
        <p:txBody>
          <a:bodyPr wrap="none" rtlCol="0">
            <a:spAutoFit/>
          </a:bodyPr>
          <a:lstStyle/>
          <a:p>
            <a:r>
              <a:rPr lang="en-US" sz="3200" dirty="0">
                <a:solidFill>
                  <a:schemeClr val="bg1"/>
                </a:solidFill>
              </a:rPr>
              <a:t>CHANDRU.S</a:t>
            </a:r>
          </a:p>
          <a:p>
            <a:r>
              <a:rPr lang="en-US" sz="3200" dirty="0">
                <a:solidFill>
                  <a:schemeClr val="bg1"/>
                </a:solidFill>
              </a:rPr>
              <a:t>DS OCTOBER BATCH 2025 - 2026</a:t>
            </a:r>
            <a:endParaRPr lang="en-IN" sz="32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sp>
      <p:sp>
        <p:nvSpPr>
          <p:cNvPr id="3" name="Text 1"/>
          <p:cNvSpPr/>
          <p:nvPr/>
        </p:nvSpPr>
        <p:spPr>
          <a:xfrm>
            <a:off x="365760" y="13716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Dataset Overview</a:t>
            </a:r>
            <a:endParaRPr lang="en-US" sz="2800" dirty="0"/>
          </a:p>
        </p:txBody>
      </p:sp>
      <p:sp>
        <p:nvSpPr>
          <p:cNvPr id="4" name="Text 2"/>
          <p:cNvSpPr/>
          <p:nvPr/>
        </p:nvSpPr>
        <p:spPr>
          <a:xfrm>
            <a:off x="365760" y="1051560"/>
            <a:ext cx="8412480" cy="1645920"/>
          </a:xfrm>
          <a:prstGeom prst="rect">
            <a:avLst/>
          </a:prstGeom>
          <a:noFill/>
          <a:ln/>
        </p:spPr>
        <p:txBody>
          <a:bodyPr wrap="square" rtlCol="0" anchor="t"/>
          <a:lstStyle/>
          <a:p>
            <a:pPr marL="0" indent="0">
              <a:buNone/>
            </a:pPr>
            <a:r>
              <a:rPr lang="en-US" sz="1350" dirty="0">
                <a:solidFill>
                  <a:srgbClr val="1E293B"/>
                </a:solidFill>
                <a:latin typeface="Calibri" pitchFamily="34" charset="0"/>
                <a:ea typeface="Calibri" pitchFamily="34" charset="-122"/>
                <a:cs typeface="Calibri" pitchFamily="34" charset="-120"/>
              </a:rPr>
              <a:t>The Housing dataset contains 545 records of residential properties with 13 features. It captures physical attributes (area, bedrooms, bathrooms, stories), amenities (air conditioning, guestroom, basement, hot water heating, parking), and location &amp; furnishing details (mainroad access, preferred area, furnishing status). The target variable is the property price ranging from ₹1.75M to ₹13.3M. The dataset is clean with zero missing values across all columns, making it ideal for regression modeling. This balanced dataset of numerical and categorical features provides a comprehensive basis for building a predictive model that can estimate housing prices based on multiple property attributes.</a:t>
            </a:r>
            <a:endParaRPr lang="en-US" sz="1350" dirty="0"/>
          </a:p>
        </p:txBody>
      </p:sp>
      <p:sp>
        <p:nvSpPr>
          <p:cNvPr id="5" name="Shape 3"/>
          <p:cNvSpPr/>
          <p:nvPr/>
        </p:nvSpPr>
        <p:spPr>
          <a:xfrm>
            <a:off x="320040" y="2834640"/>
            <a:ext cx="1965960" cy="1280160"/>
          </a:xfrm>
          <a:prstGeom prst="rect">
            <a:avLst/>
          </a:prstGeom>
          <a:solidFill>
            <a:srgbClr val="FFFFFF"/>
          </a:solidFill>
          <a:ln w="12700">
            <a:solidFill>
              <a:srgbClr val="2563EB"/>
            </a:solidFill>
            <a:prstDash val="solid"/>
          </a:ln>
          <a:effectLst>
            <a:outerShdw blurRad="76200" dist="25400" dir="8100000" algn="bl" rotWithShape="0">
              <a:srgbClr val="000000">
                <a:alpha val="10000"/>
              </a:srgbClr>
            </a:outerShdw>
          </a:effectLst>
        </p:spPr>
      </p:sp>
      <p:sp>
        <p:nvSpPr>
          <p:cNvPr id="6" name="Text 4"/>
          <p:cNvSpPr/>
          <p:nvPr/>
        </p:nvSpPr>
        <p:spPr>
          <a:xfrm>
            <a:off x="320040" y="2926080"/>
            <a:ext cx="1965960" cy="548640"/>
          </a:xfrm>
          <a:prstGeom prst="rect">
            <a:avLst/>
          </a:prstGeom>
          <a:noFill/>
          <a:ln/>
        </p:spPr>
        <p:txBody>
          <a:bodyPr wrap="square" rtlCol="0" anchor="ctr"/>
          <a:lstStyle/>
          <a:p>
            <a:pPr marL="0" indent="0" algn="ctr">
              <a:buNone/>
            </a:pPr>
            <a:r>
              <a:rPr lang="en-US" sz="2400" b="1" dirty="0">
                <a:solidFill>
                  <a:srgbClr val="2563EB"/>
                </a:solidFill>
                <a:latin typeface="Calibri" pitchFamily="34" charset="0"/>
                <a:ea typeface="Calibri" pitchFamily="34" charset="-122"/>
                <a:cs typeface="Calibri" pitchFamily="34" charset="-120"/>
              </a:rPr>
              <a:t>545</a:t>
            </a:r>
            <a:endParaRPr lang="en-US" sz="2400" dirty="0"/>
          </a:p>
        </p:txBody>
      </p:sp>
      <p:sp>
        <p:nvSpPr>
          <p:cNvPr id="7" name="Text 5"/>
          <p:cNvSpPr/>
          <p:nvPr/>
        </p:nvSpPr>
        <p:spPr>
          <a:xfrm>
            <a:off x="320040" y="3474720"/>
            <a:ext cx="1965960" cy="411480"/>
          </a:xfrm>
          <a:prstGeom prst="rect">
            <a:avLst/>
          </a:prstGeom>
          <a:noFill/>
          <a:ln/>
        </p:spPr>
        <p:txBody>
          <a:bodyPr wrap="square" rtlCol="0" anchor="ctr"/>
          <a:lstStyle/>
          <a:p>
            <a:pPr marL="0" indent="0" algn="ctr">
              <a:buNone/>
            </a:pPr>
            <a:r>
              <a:rPr lang="en-US" sz="1150" dirty="0">
                <a:solidFill>
                  <a:srgbClr val="64748B"/>
                </a:solidFill>
                <a:latin typeface="Calibri" pitchFamily="34" charset="0"/>
                <a:ea typeface="Calibri" pitchFamily="34" charset="-122"/>
                <a:cs typeface="Calibri" pitchFamily="34" charset="-120"/>
              </a:rPr>
              <a:t>Total Records</a:t>
            </a:r>
            <a:endParaRPr lang="en-US" sz="1150" dirty="0"/>
          </a:p>
        </p:txBody>
      </p:sp>
      <p:sp>
        <p:nvSpPr>
          <p:cNvPr id="8" name="Shape 6"/>
          <p:cNvSpPr/>
          <p:nvPr/>
        </p:nvSpPr>
        <p:spPr>
          <a:xfrm>
            <a:off x="2468880" y="2834640"/>
            <a:ext cx="1965960" cy="1280160"/>
          </a:xfrm>
          <a:prstGeom prst="rect">
            <a:avLst/>
          </a:prstGeom>
          <a:solidFill>
            <a:srgbClr val="FFFFFF"/>
          </a:solidFill>
          <a:ln w="12700">
            <a:solidFill>
              <a:srgbClr val="2563EB"/>
            </a:solidFill>
            <a:prstDash val="solid"/>
          </a:ln>
          <a:effectLst>
            <a:outerShdw blurRad="76200" dist="25400" dir="8100000" algn="bl" rotWithShape="0">
              <a:srgbClr val="000000">
                <a:alpha val="10000"/>
              </a:srgbClr>
            </a:outerShdw>
          </a:effectLst>
        </p:spPr>
      </p:sp>
      <p:sp>
        <p:nvSpPr>
          <p:cNvPr id="9" name="Text 7"/>
          <p:cNvSpPr/>
          <p:nvPr/>
        </p:nvSpPr>
        <p:spPr>
          <a:xfrm>
            <a:off x="2468880" y="2926080"/>
            <a:ext cx="1965960" cy="548640"/>
          </a:xfrm>
          <a:prstGeom prst="rect">
            <a:avLst/>
          </a:prstGeom>
          <a:noFill/>
          <a:ln/>
        </p:spPr>
        <p:txBody>
          <a:bodyPr wrap="square" rtlCol="0" anchor="ctr"/>
          <a:lstStyle/>
          <a:p>
            <a:pPr marL="0" indent="0" algn="ctr">
              <a:buNone/>
            </a:pPr>
            <a:r>
              <a:rPr lang="en-US" sz="2400" b="1" dirty="0">
                <a:solidFill>
                  <a:srgbClr val="2563EB"/>
                </a:solidFill>
                <a:latin typeface="Calibri" pitchFamily="34" charset="0"/>
                <a:ea typeface="Calibri" pitchFamily="34" charset="-122"/>
                <a:cs typeface="Calibri" pitchFamily="34" charset="-120"/>
              </a:rPr>
              <a:t>13</a:t>
            </a:r>
            <a:endParaRPr lang="en-US" sz="2400" dirty="0"/>
          </a:p>
        </p:txBody>
      </p:sp>
      <p:sp>
        <p:nvSpPr>
          <p:cNvPr id="10" name="Text 8"/>
          <p:cNvSpPr/>
          <p:nvPr/>
        </p:nvSpPr>
        <p:spPr>
          <a:xfrm>
            <a:off x="2468880" y="3474720"/>
            <a:ext cx="1965960" cy="411480"/>
          </a:xfrm>
          <a:prstGeom prst="rect">
            <a:avLst/>
          </a:prstGeom>
          <a:noFill/>
          <a:ln/>
        </p:spPr>
        <p:txBody>
          <a:bodyPr wrap="square" rtlCol="0" anchor="ctr"/>
          <a:lstStyle/>
          <a:p>
            <a:pPr marL="0" indent="0" algn="ctr">
              <a:buNone/>
            </a:pPr>
            <a:r>
              <a:rPr lang="en-US" sz="1150" dirty="0">
                <a:solidFill>
                  <a:srgbClr val="64748B"/>
                </a:solidFill>
                <a:latin typeface="Calibri" pitchFamily="34" charset="0"/>
                <a:ea typeface="Calibri" pitchFamily="34" charset="-122"/>
                <a:cs typeface="Calibri" pitchFamily="34" charset="-120"/>
              </a:rPr>
              <a:t>Features</a:t>
            </a:r>
            <a:endParaRPr lang="en-US" sz="1150" dirty="0"/>
          </a:p>
        </p:txBody>
      </p:sp>
      <p:sp>
        <p:nvSpPr>
          <p:cNvPr id="11" name="Shape 9"/>
          <p:cNvSpPr/>
          <p:nvPr/>
        </p:nvSpPr>
        <p:spPr>
          <a:xfrm>
            <a:off x="4617720" y="2834640"/>
            <a:ext cx="1965960" cy="1280160"/>
          </a:xfrm>
          <a:prstGeom prst="rect">
            <a:avLst/>
          </a:prstGeom>
          <a:solidFill>
            <a:srgbClr val="FFFFFF"/>
          </a:solidFill>
          <a:ln w="12700">
            <a:solidFill>
              <a:srgbClr val="2563EB"/>
            </a:solidFill>
            <a:prstDash val="solid"/>
          </a:ln>
          <a:effectLst>
            <a:outerShdw blurRad="76200" dist="25400" dir="8100000" algn="bl" rotWithShape="0">
              <a:srgbClr val="000000">
                <a:alpha val="10000"/>
              </a:srgbClr>
            </a:outerShdw>
          </a:effectLst>
        </p:spPr>
      </p:sp>
      <p:sp>
        <p:nvSpPr>
          <p:cNvPr id="12" name="Text 10"/>
          <p:cNvSpPr/>
          <p:nvPr/>
        </p:nvSpPr>
        <p:spPr>
          <a:xfrm>
            <a:off x="4617720" y="2926080"/>
            <a:ext cx="1965960" cy="548640"/>
          </a:xfrm>
          <a:prstGeom prst="rect">
            <a:avLst/>
          </a:prstGeom>
          <a:noFill/>
          <a:ln/>
        </p:spPr>
        <p:txBody>
          <a:bodyPr wrap="square" rtlCol="0" anchor="ctr"/>
          <a:lstStyle/>
          <a:p>
            <a:pPr marL="0" indent="0" algn="ctr">
              <a:buNone/>
            </a:pPr>
            <a:r>
              <a:rPr lang="en-US" sz="2400" b="1" dirty="0">
                <a:solidFill>
                  <a:srgbClr val="2563EB"/>
                </a:solidFill>
                <a:latin typeface="Calibri" pitchFamily="34" charset="0"/>
                <a:ea typeface="Calibri" pitchFamily="34" charset="-122"/>
                <a:cs typeface="Calibri" pitchFamily="34" charset="-120"/>
              </a:rPr>
              <a:t>0</a:t>
            </a:r>
            <a:endParaRPr lang="en-US" sz="2400" dirty="0"/>
          </a:p>
        </p:txBody>
      </p:sp>
      <p:sp>
        <p:nvSpPr>
          <p:cNvPr id="13" name="Text 11"/>
          <p:cNvSpPr/>
          <p:nvPr/>
        </p:nvSpPr>
        <p:spPr>
          <a:xfrm>
            <a:off x="4617720" y="3474720"/>
            <a:ext cx="1965960" cy="411480"/>
          </a:xfrm>
          <a:prstGeom prst="rect">
            <a:avLst/>
          </a:prstGeom>
          <a:noFill/>
          <a:ln/>
        </p:spPr>
        <p:txBody>
          <a:bodyPr wrap="square" rtlCol="0" anchor="ctr"/>
          <a:lstStyle/>
          <a:p>
            <a:pPr marL="0" indent="0" algn="ctr">
              <a:buNone/>
            </a:pPr>
            <a:r>
              <a:rPr lang="en-US" sz="1150" dirty="0">
                <a:solidFill>
                  <a:srgbClr val="64748B"/>
                </a:solidFill>
                <a:latin typeface="Calibri" pitchFamily="34" charset="0"/>
                <a:ea typeface="Calibri" pitchFamily="34" charset="-122"/>
                <a:cs typeface="Calibri" pitchFamily="34" charset="-120"/>
              </a:rPr>
              <a:t>Missing Values</a:t>
            </a:r>
            <a:endParaRPr lang="en-US" sz="1150" dirty="0"/>
          </a:p>
        </p:txBody>
      </p:sp>
      <p:sp>
        <p:nvSpPr>
          <p:cNvPr id="14" name="Shape 12"/>
          <p:cNvSpPr/>
          <p:nvPr/>
        </p:nvSpPr>
        <p:spPr>
          <a:xfrm>
            <a:off x="6766560" y="2834640"/>
            <a:ext cx="1965960" cy="1280160"/>
          </a:xfrm>
          <a:prstGeom prst="rect">
            <a:avLst/>
          </a:prstGeom>
          <a:solidFill>
            <a:srgbClr val="FFFFFF"/>
          </a:solidFill>
          <a:ln w="12700">
            <a:solidFill>
              <a:srgbClr val="2563EB"/>
            </a:solidFill>
            <a:prstDash val="solid"/>
          </a:ln>
          <a:effectLst>
            <a:outerShdw blurRad="76200" dist="25400" dir="8100000" algn="bl" rotWithShape="0">
              <a:srgbClr val="000000">
                <a:alpha val="10000"/>
              </a:srgbClr>
            </a:outerShdw>
          </a:effectLst>
        </p:spPr>
      </p:sp>
      <p:sp>
        <p:nvSpPr>
          <p:cNvPr id="15" name="Text 13"/>
          <p:cNvSpPr/>
          <p:nvPr/>
        </p:nvSpPr>
        <p:spPr>
          <a:xfrm>
            <a:off x="6766560" y="2926080"/>
            <a:ext cx="1965960" cy="548640"/>
          </a:xfrm>
          <a:prstGeom prst="rect">
            <a:avLst/>
          </a:prstGeom>
          <a:noFill/>
          <a:ln/>
        </p:spPr>
        <p:txBody>
          <a:bodyPr wrap="square" rtlCol="0" anchor="ctr"/>
          <a:lstStyle/>
          <a:p>
            <a:pPr marL="0" indent="0" algn="ctr">
              <a:buNone/>
            </a:pPr>
            <a:r>
              <a:rPr lang="en-US" sz="2400" b="1" dirty="0">
                <a:solidFill>
                  <a:srgbClr val="2563EB"/>
                </a:solidFill>
                <a:latin typeface="Calibri" pitchFamily="34" charset="0"/>
                <a:ea typeface="Calibri" pitchFamily="34" charset="-122"/>
                <a:cs typeface="Calibri" pitchFamily="34" charset="-120"/>
              </a:rPr>
              <a:t>₹4.77M</a:t>
            </a:r>
            <a:endParaRPr lang="en-US" sz="2400" dirty="0"/>
          </a:p>
        </p:txBody>
      </p:sp>
      <p:sp>
        <p:nvSpPr>
          <p:cNvPr id="16" name="Text 14"/>
          <p:cNvSpPr/>
          <p:nvPr/>
        </p:nvSpPr>
        <p:spPr>
          <a:xfrm>
            <a:off x="6766560" y="3474720"/>
            <a:ext cx="1965960" cy="411480"/>
          </a:xfrm>
          <a:prstGeom prst="rect">
            <a:avLst/>
          </a:prstGeom>
          <a:noFill/>
          <a:ln/>
        </p:spPr>
        <p:txBody>
          <a:bodyPr wrap="square" rtlCol="0" anchor="ctr"/>
          <a:lstStyle/>
          <a:p>
            <a:pPr marL="0" indent="0" algn="ctr">
              <a:buNone/>
            </a:pPr>
            <a:r>
              <a:rPr lang="en-US" sz="1150" dirty="0">
                <a:solidFill>
                  <a:srgbClr val="64748B"/>
                </a:solidFill>
                <a:latin typeface="Calibri" pitchFamily="34" charset="0"/>
                <a:ea typeface="Calibri" pitchFamily="34" charset="-122"/>
                <a:cs typeface="Calibri" pitchFamily="34" charset="-120"/>
              </a:rPr>
              <a:t>Avg Price</a:t>
            </a:r>
            <a:endParaRPr lang="en-US" sz="1150" dirty="0"/>
          </a:p>
        </p:txBody>
      </p:sp>
      <p:sp>
        <p:nvSpPr>
          <p:cNvPr id="17" name="Text 15"/>
          <p:cNvSpPr/>
          <p:nvPr/>
        </p:nvSpPr>
        <p:spPr>
          <a:xfrm>
            <a:off x="365760" y="4297680"/>
            <a:ext cx="1828800" cy="320040"/>
          </a:xfrm>
          <a:prstGeom prst="rect">
            <a:avLst/>
          </a:prstGeom>
          <a:noFill/>
          <a:ln/>
        </p:spPr>
        <p:txBody>
          <a:bodyPr wrap="square"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Key Columns:</a:t>
            </a:r>
            <a:endParaRPr lang="en-US" sz="1200" dirty="0"/>
          </a:p>
        </p:txBody>
      </p:sp>
      <p:sp>
        <p:nvSpPr>
          <p:cNvPr id="18" name="Text 16"/>
          <p:cNvSpPr/>
          <p:nvPr/>
        </p:nvSpPr>
        <p:spPr>
          <a:xfrm>
            <a:off x="365760" y="4617720"/>
            <a:ext cx="8412480" cy="41148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price · area · bedrooms · bathrooms · stories · mainroad · guestroom · basement · hotwaterheating · airconditioning · parking · prefarea · furnishingstatus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563EB"/>
          </a:solidFill>
          <a:ln w="12700">
            <a:solidFill>
              <a:srgbClr val="2563EB"/>
            </a:solidFill>
            <a:prstDash val="solid"/>
          </a:ln>
        </p:spPr>
      </p:sp>
      <p:sp>
        <p:nvSpPr>
          <p:cNvPr id="3" name="Text 1"/>
          <p:cNvSpPr/>
          <p:nvPr/>
        </p:nvSpPr>
        <p:spPr>
          <a:xfrm>
            <a:off x="365760" y="13716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Exploratory Data Analysis</a:t>
            </a:r>
            <a:endParaRPr lang="en-US" sz="2800" dirty="0"/>
          </a:p>
        </p:txBody>
      </p:sp>
      <p:sp>
        <p:nvSpPr>
          <p:cNvPr id="4" name="Text 2"/>
          <p:cNvSpPr/>
          <p:nvPr/>
        </p:nvSpPr>
        <p:spPr>
          <a:xfrm>
            <a:off x="365760" y="1005840"/>
            <a:ext cx="4023360" cy="256032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EDA was conducted to understand the distribution of features, identify relationships, and prepare data for modelling. Histograms revealed that price and area are approximately right-skewed, while discrete features like bedrooms and bathrooms cluster at low values. The majority of properties have 2–3 bedrooms and 1 bathroom. Area spans from 1,650 to 16,200 sq ft with an average of ~5,150. Price ranges widely from ₹1.75M to ₹13.3M with a mean of ₹4.77M. Categorical features such as mainroad access, airconditioning, and preferred area show notable influence on price, validated through correlation analysis. The histogram grid provided a comprehensive snapshot of feature distributions across the entire dataset.</a:t>
            </a:r>
            <a:endParaRPr lang="en-US" sz="1250" dirty="0"/>
          </a:p>
        </p:txBody>
      </p:sp>
      <p:pic>
        <p:nvPicPr>
          <p:cNvPr id="5" name="Image 0" descr="preencoded.png"/>
          <p:cNvPicPr>
            <a:picLocks noChangeAspect="1"/>
          </p:cNvPicPr>
          <p:nvPr/>
        </p:nvPicPr>
        <p:blipFill>
          <a:blip r:embed="rId3"/>
          <a:stretch>
            <a:fillRect/>
          </a:stretch>
        </p:blipFill>
        <p:spPr>
          <a:xfrm>
            <a:off x="4480560" y="960120"/>
            <a:ext cx="4480560" cy="3383280"/>
          </a:xfrm>
          <a:prstGeom prst="rect">
            <a:avLst/>
          </a:prstGeom>
        </p:spPr>
      </p:pic>
      <p:sp>
        <p:nvSpPr>
          <p:cNvPr id="6" name="Shape 3"/>
          <p:cNvSpPr/>
          <p:nvPr/>
        </p:nvSpPr>
        <p:spPr>
          <a:xfrm>
            <a:off x="365760" y="4526280"/>
            <a:ext cx="2468880" cy="502920"/>
          </a:xfrm>
          <a:prstGeom prst="rect">
            <a:avLst/>
          </a:prstGeom>
          <a:solidFill>
            <a:srgbClr val="EFF6FF"/>
          </a:solidFill>
          <a:ln w="12700">
            <a:solidFill>
              <a:srgbClr val="2563EB"/>
            </a:solidFill>
            <a:prstDash val="solid"/>
          </a:ln>
        </p:spPr>
      </p:sp>
      <p:sp>
        <p:nvSpPr>
          <p:cNvPr id="7" name="Text 4"/>
          <p:cNvSpPr/>
          <p:nvPr/>
        </p:nvSpPr>
        <p:spPr>
          <a:xfrm>
            <a:off x="365760" y="4526280"/>
            <a:ext cx="2468880" cy="502920"/>
          </a:xfrm>
          <a:prstGeom prst="rect">
            <a:avLst/>
          </a:prstGeom>
          <a:noFill/>
          <a:ln/>
        </p:spPr>
        <p:txBody>
          <a:bodyPr wrap="square" rtlCol="0" anchor="ctr"/>
          <a:lstStyle/>
          <a:p>
            <a:pPr marL="0" indent="0" algn="ctr">
              <a:buNone/>
            </a:pPr>
            <a:r>
              <a:rPr lang="en-US" sz="1100" dirty="0">
                <a:solidFill>
                  <a:srgbClr val="1A2B4A"/>
                </a:solidFill>
                <a:latin typeface="Calibri" pitchFamily="34" charset="0"/>
                <a:ea typeface="Calibri" pitchFamily="34" charset="-122"/>
                <a:cs typeface="Calibri" pitchFamily="34" charset="-120"/>
              </a:rPr>
              <a:t>1,650–16,200  Area (sqft)</a:t>
            </a:r>
            <a:endParaRPr lang="en-US" sz="1100" dirty="0"/>
          </a:p>
        </p:txBody>
      </p:sp>
      <p:sp>
        <p:nvSpPr>
          <p:cNvPr id="8" name="Shape 5"/>
          <p:cNvSpPr/>
          <p:nvPr/>
        </p:nvSpPr>
        <p:spPr>
          <a:xfrm>
            <a:off x="3108960" y="4526280"/>
            <a:ext cx="2468880" cy="502920"/>
          </a:xfrm>
          <a:prstGeom prst="rect">
            <a:avLst/>
          </a:prstGeom>
          <a:solidFill>
            <a:srgbClr val="EFF6FF"/>
          </a:solidFill>
          <a:ln w="12700">
            <a:solidFill>
              <a:srgbClr val="2563EB"/>
            </a:solidFill>
            <a:prstDash val="solid"/>
          </a:ln>
        </p:spPr>
      </p:sp>
      <p:sp>
        <p:nvSpPr>
          <p:cNvPr id="9" name="Text 6"/>
          <p:cNvSpPr/>
          <p:nvPr/>
        </p:nvSpPr>
        <p:spPr>
          <a:xfrm>
            <a:off x="3108960" y="4526280"/>
            <a:ext cx="2468880" cy="502920"/>
          </a:xfrm>
          <a:prstGeom prst="rect">
            <a:avLst/>
          </a:prstGeom>
          <a:noFill/>
          <a:ln/>
        </p:spPr>
        <p:txBody>
          <a:bodyPr wrap="square" rtlCol="0" anchor="ctr"/>
          <a:lstStyle/>
          <a:p>
            <a:pPr marL="0" indent="0" algn="ctr">
              <a:buNone/>
            </a:pPr>
            <a:r>
              <a:rPr lang="en-US" sz="1100" dirty="0">
                <a:solidFill>
                  <a:srgbClr val="1A2B4A"/>
                </a:solidFill>
                <a:latin typeface="Calibri" pitchFamily="34" charset="0"/>
                <a:ea typeface="Calibri" pitchFamily="34" charset="-122"/>
                <a:cs typeface="Calibri" pitchFamily="34" charset="-120"/>
              </a:rPr>
              <a:t>₹1.75M–₹13.3M  Price Range</a:t>
            </a:r>
            <a:endParaRPr lang="en-US" sz="1100" dirty="0"/>
          </a:p>
        </p:txBody>
      </p:sp>
      <p:sp>
        <p:nvSpPr>
          <p:cNvPr id="10" name="Shape 7"/>
          <p:cNvSpPr/>
          <p:nvPr/>
        </p:nvSpPr>
        <p:spPr>
          <a:xfrm>
            <a:off x="5852160" y="4526280"/>
            <a:ext cx="2468880" cy="502920"/>
          </a:xfrm>
          <a:prstGeom prst="rect">
            <a:avLst/>
          </a:prstGeom>
          <a:solidFill>
            <a:srgbClr val="EFF6FF"/>
          </a:solidFill>
          <a:ln w="12700">
            <a:solidFill>
              <a:srgbClr val="2563EB"/>
            </a:solidFill>
            <a:prstDash val="solid"/>
          </a:ln>
        </p:spPr>
      </p:sp>
      <p:sp>
        <p:nvSpPr>
          <p:cNvPr id="11" name="Text 8"/>
          <p:cNvSpPr/>
          <p:nvPr/>
        </p:nvSpPr>
        <p:spPr>
          <a:xfrm>
            <a:off x="5852160" y="4526280"/>
            <a:ext cx="2468880" cy="502920"/>
          </a:xfrm>
          <a:prstGeom prst="rect">
            <a:avLst/>
          </a:prstGeom>
          <a:noFill/>
          <a:ln/>
        </p:spPr>
        <p:txBody>
          <a:bodyPr wrap="square" rtlCol="0" anchor="ctr"/>
          <a:lstStyle/>
          <a:p>
            <a:pPr marL="0" indent="0" algn="ctr">
              <a:buNone/>
            </a:pPr>
            <a:r>
              <a:rPr lang="en-US" sz="1100" dirty="0">
                <a:solidFill>
                  <a:srgbClr val="1A2B4A"/>
                </a:solidFill>
                <a:latin typeface="Calibri" pitchFamily="34" charset="0"/>
                <a:ea typeface="Calibri" pitchFamily="34" charset="-122"/>
                <a:cs typeface="Calibri" pitchFamily="34" charset="-120"/>
              </a:rPr>
              <a:t>1–4  Bedrooms Range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sp>
      <p:sp>
        <p:nvSpPr>
          <p:cNvPr id="3" name="Text 1"/>
          <p:cNvSpPr/>
          <p:nvPr/>
        </p:nvSpPr>
        <p:spPr>
          <a:xfrm>
            <a:off x="365760" y="13716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Correlation Heatmap</a:t>
            </a:r>
            <a:endParaRPr lang="en-US" sz="2800" dirty="0"/>
          </a:p>
        </p:txBody>
      </p:sp>
      <p:pic>
        <p:nvPicPr>
          <p:cNvPr id="4" name="Image 0" descr="preencoded.png"/>
          <p:cNvPicPr>
            <a:picLocks noChangeAspect="1"/>
          </p:cNvPicPr>
          <p:nvPr/>
        </p:nvPicPr>
        <p:blipFill>
          <a:blip r:embed="rId3"/>
          <a:stretch>
            <a:fillRect/>
          </a:stretch>
        </p:blipFill>
        <p:spPr>
          <a:xfrm>
            <a:off x="274320" y="960120"/>
            <a:ext cx="4572000" cy="3657600"/>
          </a:xfrm>
          <a:prstGeom prst="rect">
            <a:avLst/>
          </a:prstGeom>
        </p:spPr>
      </p:pic>
      <p:sp>
        <p:nvSpPr>
          <p:cNvPr id="5" name="Text 2"/>
          <p:cNvSpPr/>
          <p:nvPr/>
        </p:nvSpPr>
        <p:spPr>
          <a:xfrm>
            <a:off x="5029200" y="1005840"/>
            <a:ext cx="3840480" cy="365760"/>
          </a:xfrm>
          <a:prstGeom prst="rect">
            <a:avLst/>
          </a:prstGeom>
          <a:noFill/>
          <a:ln/>
        </p:spPr>
        <p:txBody>
          <a:bodyPr wrap="square" rtlCol="0" anchor="ctr"/>
          <a:lstStyle/>
          <a:p>
            <a:pPr marL="0" indent="0">
              <a:buNone/>
            </a:pPr>
            <a:r>
              <a:rPr lang="en-US" sz="1400" b="1" dirty="0">
                <a:solidFill>
                  <a:srgbClr val="1A2B4A"/>
                </a:solidFill>
                <a:latin typeface="Calibri" pitchFamily="34" charset="0"/>
                <a:ea typeface="Calibri" pitchFamily="34" charset="-122"/>
                <a:cs typeface="Calibri" pitchFamily="34" charset="-120"/>
              </a:rPr>
              <a:t>Top Correlations with Price</a:t>
            </a:r>
            <a:endParaRPr lang="en-US" sz="1400" dirty="0"/>
          </a:p>
        </p:txBody>
      </p:sp>
      <p:sp>
        <p:nvSpPr>
          <p:cNvPr id="6" name="Shape 3"/>
          <p:cNvSpPr/>
          <p:nvPr/>
        </p:nvSpPr>
        <p:spPr>
          <a:xfrm>
            <a:off x="5029200" y="1463040"/>
            <a:ext cx="3840480" cy="347472"/>
          </a:xfrm>
          <a:prstGeom prst="rect">
            <a:avLst/>
          </a:prstGeom>
          <a:solidFill>
            <a:srgbClr val="FFFFFF"/>
          </a:solidFill>
          <a:ln w="12700">
            <a:solidFill>
              <a:srgbClr val="E2E8F0"/>
            </a:solidFill>
            <a:prstDash val="solid"/>
          </a:ln>
        </p:spPr>
      </p:sp>
      <p:sp>
        <p:nvSpPr>
          <p:cNvPr id="7" name="Text 4"/>
          <p:cNvSpPr/>
          <p:nvPr/>
        </p:nvSpPr>
        <p:spPr>
          <a:xfrm>
            <a:off x="5120640" y="1481328"/>
            <a:ext cx="2560320" cy="310896"/>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Area</a:t>
            </a:r>
            <a:endParaRPr lang="en-US" sz="1200" dirty="0"/>
          </a:p>
        </p:txBody>
      </p:sp>
      <p:sp>
        <p:nvSpPr>
          <p:cNvPr id="8" name="Text 5"/>
          <p:cNvSpPr/>
          <p:nvPr/>
        </p:nvSpPr>
        <p:spPr>
          <a:xfrm>
            <a:off x="7680960" y="1481328"/>
            <a:ext cx="1097280" cy="310896"/>
          </a:xfrm>
          <a:prstGeom prst="rect">
            <a:avLst/>
          </a:prstGeom>
          <a:noFill/>
          <a:ln/>
        </p:spPr>
        <p:txBody>
          <a:bodyPr wrap="square"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0.536</a:t>
            </a:r>
            <a:endParaRPr lang="en-US" sz="1200" dirty="0"/>
          </a:p>
        </p:txBody>
      </p:sp>
      <p:sp>
        <p:nvSpPr>
          <p:cNvPr id="9" name="Shape 6"/>
          <p:cNvSpPr/>
          <p:nvPr/>
        </p:nvSpPr>
        <p:spPr>
          <a:xfrm>
            <a:off x="5029200" y="1883664"/>
            <a:ext cx="3840480" cy="347472"/>
          </a:xfrm>
          <a:prstGeom prst="rect">
            <a:avLst/>
          </a:prstGeom>
          <a:solidFill>
            <a:srgbClr val="F8FAFC"/>
          </a:solidFill>
          <a:ln w="12700">
            <a:solidFill>
              <a:srgbClr val="E2E8F0"/>
            </a:solidFill>
            <a:prstDash val="solid"/>
          </a:ln>
        </p:spPr>
      </p:sp>
      <p:sp>
        <p:nvSpPr>
          <p:cNvPr id="10" name="Text 7"/>
          <p:cNvSpPr/>
          <p:nvPr/>
        </p:nvSpPr>
        <p:spPr>
          <a:xfrm>
            <a:off x="5120640" y="1901952"/>
            <a:ext cx="2560320" cy="310896"/>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Bathrooms</a:t>
            </a:r>
            <a:endParaRPr lang="en-US" sz="1200" dirty="0"/>
          </a:p>
        </p:txBody>
      </p:sp>
      <p:sp>
        <p:nvSpPr>
          <p:cNvPr id="11" name="Text 8"/>
          <p:cNvSpPr/>
          <p:nvPr/>
        </p:nvSpPr>
        <p:spPr>
          <a:xfrm>
            <a:off x="7680960" y="1901952"/>
            <a:ext cx="1097280" cy="310896"/>
          </a:xfrm>
          <a:prstGeom prst="rect">
            <a:avLst/>
          </a:prstGeom>
          <a:noFill/>
          <a:ln/>
        </p:spPr>
        <p:txBody>
          <a:bodyPr wrap="square"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0.518</a:t>
            </a:r>
            <a:endParaRPr lang="en-US" sz="1200" dirty="0"/>
          </a:p>
        </p:txBody>
      </p:sp>
      <p:sp>
        <p:nvSpPr>
          <p:cNvPr id="12" name="Shape 9"/>
          <p:cNvSpPr/>
          <p:nvPr/>
        </p:nvSpPr>
        <p:spPr>
          <a:xfrm>
            <a:off x="5029200" y="2304288"/>
            <a:ext cx="3840480" cy="347472"/>
          </a:xfrm>
          <a:prstGeom prst="rect">
            <a:avLst/>
          </a:prstGeom>
          <a:solidFill>
            <a:srgbClr val="FFFFFF"/>
          </a:solidFill>
          <a:ln w="12700">
            <a:solidFill>
              <a:srgbClr val="E2E8F0"/>
            </a:solidFill>
            <a:prstDash val="solid"/>
          </a:ln>
        </p:spPr>
      </p:sp>
      <p:sp>
        <p:nvSpPr>
          <p:cNvPr id="13" name="Text 10"/>
          <p:cNvSpPr/>
          <p:nvPr/>
        </p:nvSpPr>
        <p:spPr>
          <a:xfrm>
            <a:off x="5120640" y="2322576"/>
            <a:ext cx="2560320" cy="310896"/>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Air Conditioning</a:t>
            </a:r>
            <a:endParaRPr lang="en-US" sz="1200" dirty="0"/>
          </a:p>
        </p:txBody>
      </p:sp>
      <p:sp>
        <p:nvSpPr>
          <p:cNvPr id="14" name="Text 11"/>
          <p:cNvSpPr/>
          <p:nvPr/>
        </p:nvSpPr>
        <p:spPr>
          <a:xfrm>
            <a:off x="7680960" y="2322576"/>
            <a:ext cx="1097280" cy="310896"/>
          </a:xfrm>
          <a:prstGeom prst="rect">
            <a:avLst/>
          </a:prstGeom>
          <a:noFill/>
          <a:ln/>
        </p:spPr>
        <p:txBody>
          <a:bodyPr wrap="square"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0.453</a:t>
            </a:r>
            <a:endParaRPr lang="en-US" sz="1200" dirty="0"/>
          </a:p>
        </p:txBody>
      </p:sp>
      <p:sp>
        <p:nvSpPr>
          <p:cNvPr id="15" name="Shape 12"/>
          <p:cNvSpPr/>
          <p:nvPr/>
        </p:nvSpPr>
        <p:spPr>
          <a:xfrm>
            <a:off x="5029200" y="2724912"/>
            <a:ext cx="3840480" cy="347472"/>
          </a:xfrm>
          <a:prstGeom prst="rect">
            <a:avLst/>
          </a:prstGeom>
          <a:solidFill>
            <a:srgbClr val="F8FAFC"/>
          </a:solidFill>
          <a:ln w="12700">
            <a:solidFill>
              <a:srgbClr val="E2E8F0"/>
            </a:solidFill>
            <a:prstDash val="solid"/>
          </a:ln>
        </p:spPr>
      </p:sp>
      <p:sp>
        <p:nvSpPr>
          <p:cNvPr id="16" name="Text 13"/>
          <p:cNvSpPr/>
          <p:nvPr/>
        </p:nvSpPr>
        <p:spPr>
          <a:xfrm>
            <a:off x="5120640" y="2743200"/>
            <a:ext cx="2560320" cy="310896"/>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Stories</a:t>
            </a:r>
            <a:endParaRPr lang="en-US" sz="1200" dirty="0"/>
          </a:p>
        </p:txBody>
      </p:sp>
      <p:sp>
        <p:nvSpPr>
          <p:cNvPr id="17" name="Text 14"/>
          <p:cNvSpPr/>
          <p:nvPr/>
        </p:nvSpPr>
        <p:spPr>
          <a:xfrm>
            <a:off x="7680960" y="2743200"/>
            <a:ext cx="1097280" cy="310896"/>
          </a:xfrm>
          <a:prstGeom prst="rect">
            <a:avLst/>
          </a:prstGeom>
          <a:noFill/>
          <a:ln/>
        </p:spPr>
        <p:txBody>
          <a:bodyPr wrap="square"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0.421</a:t>
            </a:r>
            <a:endParaRPr lang="en-US" sz="1200" dirty="0"/>
          </a:p>
        </p:txBody>
      </p:sp>
      <p:sp>
        <p:nvSpPr>
          <p:cNvPr id="18" name="Shape 15"/>
          <p:cNvSpPr/>
          <p:nvPr/>
        </p:nvSpPr>
        <p:spPr>
          <a:xfrm>
            <a:off x="5029200" y="3145536"/>
            <a:ext cx="3840480" cy="347472"/>
          </a:xfrm>
          <a:prstGeom prst="rect">
            <a:avLst/>
          </a:prstGeom>
          <a:solidFill>
            <a:srgbClr val="FFFFFF"/>
          </a:solidFill>
          <a:ln w="12700">
            <a:solidFill>
              <a:srgbClr val="E2E8F0"/>
            </a:solidFill>
            <a:prstDash val="solid"/>
          </a:ln>
        </p:spPr>
      </p:sp>
      <p:sp>
        <p:nvSpPr>
          <p:cNvPr id="19" name="Text 16"/>
          <p:cNvSpPr/>
          <p:nvPr/>
        </p:nvSpPr>
        <p:spPr>
          <a:xfrm>
            <a:off x="5120640" y="3163824"/>
            <a:ext cx="2560320" cy="310896"/>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Parking</a:t>
            </a:r>
            <a:endParaRPr lang="en-US" sz="1200" dirty="0"/>
          </a:p>
        </p:txBody>
      </p:sp>
      <p:sp>
        <p:nvSpPr>
          <p:cNvPr id="20" name="Text 17"/>
          <p:cNvSpPr/>
          <p:nvPr/>
        </p:nvSpPr>
        <p:spPr>
          <a:xfrm>
            <a:off x="7680960" y="3163824"/>
            <a:ext cx="1097280" cy="310896"/>
          </a:xfrm>
          <a:prstGeom prst="rect">
            <a:avLst/>
          </a:prstGeom>
          <a:noFill/>
          <a:ln/>
        </p:spPr>
        <p:txBody>
          <a:bodyPr wrap="square" rtlCol="0" anchor="ctr"/>
          <a:lstStyle/>
          <a:p>
            <a:pPr marL="0" indent="0" algn="r">
              <a:buNone/>
            </a:pPr>
            <a:r>
              <a:rPr lang="en-US" sz="1200" b="1" dirty="0">
                <a:solidFill>
                  <a:srgbClr val="2563EB"/>
                </a:solidFill>
                <a:latin typeface="Calibri" pitchFamily="34" charset="0"/>
                <a:ea typeface="Calibri" pitchFamily="34" charset="-122"/>
                <a:cs typeface="Calibri" pitchFamily="34" charset="-120"/>
              </a:rPr>
              <a:t>0.384</a:t>
            </a:r>
            <a:endParaRPr lang="en-US" sz="1200" dirty="0"/>
          </a:p>
        </p:txBody>
      </p:sp>
      <p:sp>
        <p:nvSpPr>
          <p:cNvPr id="21" name="Shape 18"/>
          <p:cNvSpPr/>
          <p:nvPr/>
        </p:nvSpPr>
        <p:spPr>
          <a:xfrm>
            <a:off x="5029200" y="3566160"/>
            <a:ext cx="3840480" cy="347472"/>
          </a:xfrm>
          <a:prstGeom prst="rect">
            <a:avLst/>
          </a:prstGeom>
          <a:solidFill>
            <a:srgbClr val="F8FAFC"/>
          </a:solidFill>
          <a:ln w="12700">
            <a:solidFill>
              <a:srgbClr val="E2E8F0"/>
            </a:solidFill>
            <a:prstDash val="solid"/>
          </a:ln>
        </p:spPr>
      </p:sp>
      <p:sp>
        <p:nvSpPr>
          <p:cNvPr id="22" name="Text 19"/>
          <p:cNvSpPr/>
          <p:nvPr/>
        </p:nvSpPr>
        <p:spPr>
          <a:xfrm>
            <a:off x="5120640" y="3584448"/>
            <a:ext cx="2560320" cy="310896"/>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Bedrooms</a:t>
            </a:r>
            <a:endParaRPr lang="en-US" sz="1200" dirty="0"/>
          </a:p>
        </p:txBody>
      </p:sp>
      <p:sp>
        <p:nvSpPr>
          <p:cNvPr id="23" name="Text 20"/>
          <p:cNvSpPr/>
          <p:nvPr/>
        </p:nvSpPr>
        <p:spPr>
          <a:xfrm>
            <a:off x="7680960" y="3584448"/>
            <a:ext cx="1097280" cy="310896"/>
          </a:xfrm>
          <a:prstGeom prst="rect">
            <a:avLst/>
          </a:prstGeom>
          <a:noFill/>
          <a:ln/>
        </p:spPr>
        <p:txBody>
          <a:bodyPr wrap="square" rtlCol="0" anchor="ctr"/>
          <a:lstStyle/>
          <a:p>
            <a:pPr marL="0" indent="0" algn="r">
              <a:buNone/>
            </a:pPr>
            <a:r>
              <a:rPr lang="en-US" sz="1200" b="1" dirty="0">
                <a:solidFill>
                  <a:srgbClr val="2563EB"/>
                </a:solidFill>
                <a:latin typeface="Calibri" pitchFamily="34" charset="0"/>
                <a:ea typeface="Calibri" pitchFamily="34" charset="-122"/>
                <a:cs typeface="Calibri" pitchFamily="34" charset="-120"/>
              </a:rPr>
              <a:t>0.366</a:t>
            </a:r>
            <a:endParaRPr lang="en-US" sz="1200" dirty="0"/>
          </a:p>
        </p:txBody>
      </p:sp>
      <p:sp>
        <p:nvSpPr>
          <p:cNvPr id="24" name="Shape 21"/>
          <p:cNvSpPr/>
          <p:nvPr/>
        </p:nvSpPr>
        <p:spPr>
          <a:xfrm>
            <a:off x="5029200" y="3986784"/>
            <a:ext cx="3840480" cy="347472"/>
          </a:xfrm>
          <a:prstGeom prst="rect">
            <a:avLst/>
          </a:prstGeom>
          <a:solidFill>
            <a:srgbClr val="FFFFFF"/>
          </a:solidFill>
          <a:ln w="12700">
            <a:solidFill>
              <a:srgbClr val="E2E8F0"/>
            </a:solidFill>
            <a:prstDash val="solid"/>
          </a:ln>
        </p:spPr>
      </p:sp>
      <p:sp>
        <p:nvSpPr>
          <p:cNvPr id="25" name="Text 22"/>
          <p:cNvSpPr/>
          <p:nvPr/>
        </p:nvSpPr>
        <p:spPr>
          <a:xfrm>
            <a:off x="5120640" y="4005072"/>
            <a:ext cx="2560320" cy="310896"/>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Pref Area</a:t>
            </a:r>
            <a:endParaRPr lang="en-US" sz="1200" dirty="0"/>
          </a:p>
        </p:txBody>
      </p:sp>
      <p:sp>
        <p:nvSpPr>
          <p:cNvPr id="26" name="Text 23"/>
          <p:cNvSpPr/>
          <p:nvPr/>
        </p:nvSpPr>
        <p:spPr>
          <a:xfrm>
            <a:off x="7680960" y="4005072"/>
            <a:ext cx="1097280" cy="310896"/>
          </a:xfrm>
          <a:prstGeom prst="rect">
            <a:avLst/>
          </a:prstGeom>
          <a:noFill/>
          <a:ln/>
        </p:spPr>
        <p:txBody>
          <a:bodyPr wrap="square" rtlCol="0" anchor="ctr"/>
          <a:lstStyle/>
          <a:p>
            <a:pPr marL="0" indent="0" algn="r">
              <a:buNone/>
            </a:pPr>
            <a:r>
              <a:rPr lang="en-US" sz="1200" b="1" dirty="0">
                <a:solidFill>
                  <a:srgbClr val="2563EB"/>
                </a:solidFill>
                <a:latin typeface="Calibri" pitchFamily="34" charset="0"/>
                <a:ea typeface="Calibri" pitchFamily="34" charset="-122"/>
                <a:cs typeface="Calibri" pitchFamily="34" charset="-120"/>
              </a:rPr>
              <a:t>0.330</a:t>
            </a:r>
            <a:endParaRPr lang="en-US" sz="1200" dirty="0"/>
          </a:p>
        </p:txBody>
      </p:sp>
      <p:sp>
        <p:nvSpPr>
          <p:cNvPr id="27" name="Shape 24"/>
          <p:cNvSpPr/>
          <p:nvPr/>
        </p:nvSpPr>
        <p:spPr>
          <a:xfrm>
            <a:off x="5029200" y="4407408"/>
            <a:ext cx="3840480" cy="347472"/>
          </a:xfrm>
          <a:prstGeom prst="rect">
            <a:avLst/>
          </a:prstGeom>
          <a:solidFill>
            <a:srgbClr val="F8FAFC"/>
          </a:solidFill>
          <a:ln w="12700">
            <a:solidFill>
              <a:srgbClr val="E2E8F0"/>
            </a:solidFill>
            <a:prstDash val="solid"/>
          </a:ln>
        </p:spPr>
      </p:sp>
      <p:sp>
        <p:nvSpPr>
          <p:cNvPr id="28" name="Text 25"/>
          <p:cNvSpPr/>
          <p:nvPr/>
        </p:nvSpPr>
        <p:spPr>
          <a:xfrm>
            <a:off x="5120640" y="4425696"/>
            <a:ext cx="2560320" cy="310896"/>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Hot Water Htg</a:t>
            </a:r>
            <a:endParaRPr lang="en-US" sz="1200" dirty="0"/>
          </a:p>
        </p:txBody>
      </p:sp>
      <p:sp>
        <p:nvSpPr>
          <p:cNvPr id="29" name="Text 26"/>
          <p:cNvSpPr/>
          <p:nvPr/>
        </p:nvSpPr>
        <p:spPr>
          <a:xfrm>
            <a:off x="7680960" y="4425696"/>
            <a:ext cx="1097280" cy="310896"/>
          </a:xfrm>
          <a:prstGeom prst="rect">
            <a:avLst/>
          </a:prstGeom>
          <a:noFill/>
          <a:ln/>
        </p:spPr>
        <p:txBody>
          <a:bodyPr wrap="square" rtlCol="0" anchor="ctr"/>
          <a:lstStyle/>
          <a:p>
            <a:pPr marL="0" indent="0" algn="r">
              <a:buNone/>
            </a:pPr>
            <a:r>
              <a:rPr lang="en-US" sz="1200" b="1" dirty="0">
                <a:solidFill>
                  <a:srgbClr val="64748B"/>
                </a:solidFill>
                <a:latin typeface="Calibri" pitchFamily="34" charset="0"/>
                <a:ea typeface="Calibri" pitchFamily="34" charset="-122"/>
                <a:cs typeface="Calibri" pitchFamily="34" charset="-120"/>
              </a:rPr>
              <a:t>0.093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563EB"/>
          </a:solidFill>
          <a:ln w="12700">
            <a:solidFill>
              <a:srgbClr val="2563EB"/>
            </a:solidFill>
            <a:prstDash val="solid"/>
          </a:ln>
        </p:spPr>
      </p:sp>
      <p:sp>
        <p:nvSpPr>
          <p:cNvPr id="3" name="Text 1"/>
          <p:cNvSpPr/>
          <p:nvPr/>
        </p:nvSpPr>
        <p:spPr>
          <a:xfrm>
            <a:off x="365760" y="13716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 Preprocessing</a:t>
            </a:r>
            <a:endParaRPr lang="en-US" sz="2800" dirty="0"/>
          </a:p>
        </p:txBody>
      </p:sp>
      <p:sp>
        <p:nvSpPr>
          <p:cNvPr id="4" name="Text 2"/>
          <p:cNvSpPr/>
          <p:nvPr/>
        </p:nvSpPr>
        <p:spPr>
          <a:xfrm>
            <a:off x="365760" y="1005840"/>
            <a:ext cx="8412480" cy="2011680"/>
          </a:xfrm>
          <a:prstGeom prst="rect">
            <a:avLst/>
          </a:prstGeom>
          <a:noFill/>
          <a:ln/>
        </p:spPr>
        <p:txBody>
          <a:bodyPr wrap="square" rtlCol="0" anchor="t"/>
          <a:lstStyle/>
          <a:p>
            <a:pPr marL="0" indent="0">
              <a:buNone/>
            </a:pPr>
            <a:r>
              <a:rPr lang="en-US" sz="1300" dirty="0">
                <a:solidFill>
                  <a:srgbClr val="1E293B"/>
                </a:solidFill>
                <a:latin typeface="Calibri" pitchFamily="34" charset="0"/>
                <a:ea typeface="Calibri" pitchFamily="34" charset="-122"/>
                <a:cs typeface="Calibri" pitchFamily="34" charset="-120"/>
              </a:rPr>
              <a:t>Before feeding data into the machine learning model, several preprocessing steps were applied. Binary categorical columns (mainroad, guestroom, basement, hotwaterheating, airconditioning, prefarea) were encoded by replacing 'yes' with 1 and 'no' with 0. The furnishingstatus column with three categories (unfurnished, semi-furnished, furnished) was encoded as 0, 1, and 2 respectively. StandardScaler from scikit-learn was applied to normalize the continuous columns — price and area — transforming them to zero mean and unit variance. This ensures that features with large numerical ranges do not dominate the regression model. The resulting dataset had all features as numeric types (float64 and int64), making it fully compatible with the LinearRegression estimator. No imputation was needed as the dataset had no missing values.</a:t>
            </a:r>
            <a:endParaRPr lang="en-US" sz="1300" dirty="0"/>
          </a:p>
        </p:txBody>
      </p:sp>
      <p:sp>
        <p:nvSpPr>
          <p:cNvPr id="5" name="Shape 3"/>
          <p:cNvSpPr/>
          <p:nvPr/>
        </p:nvSpPr>
        <p:spPr>
          <a:xfrm>
            <a:off x="320040" y="3200400"/>
            <a:ext cx="2011680" cy="1554480"/>
          </a:xfrm>
          <a:prstGeom prst="rect">
            <a:avLst/>
          </a:prstGeom>
          <a:solidFill>
            <a:srgbClr val="EFF6FF"/>
          </a:solidFill>
          <a:ln w="12700">
            <a:solidFill>
              <a:srgbClr val="06B6D4"/>
            </a:solidFill>
            <a:prstDash val="solid"/>
          </a:ln>
        </p:spPr>
      </p:sp>
      <p:sp>
        <p:nvSpPr>
          <p:cNvPr id="6" name="Shape 4"/>
          <p:cNvSpPr/>
          <p:nvPr/>
        </p:nvSpPr>
        <p:spPr>
          <a:xfrm>
            <a:off x="1069848" y="3246120"/>
            <a:ext cx="502920" cy="502920"/>
          </a:xfrm>
          <a:prstGeom prst="ellipse">
            <a:avLst/>
          </a:prstGeom>
          <a:solidFill>
            <a:srgbClr val="06B6D4"/>
          </a:solidFill>
          <a:ln w="12700">
            <a:solidFill>
              <a:srgbClr val="06B6D4"/>
            </a:solidFill>
            <a:prstDash val="solid"/>
          </a:ln>
        </p:spPr>
      </p:sp>
      <p:sp>
        <p:nvSpPr>
          <p:cNvPr id="7" name="Text 5"/>
          <p:cNvSpPr/>
          <p:nvPr/>
        </p:nvSpPr>
        <p:spPr>
          <a:xfrm>
            <a:off x="1069848" y="3255264"/>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320040" y="3840480"/>
            <a:ext cx="2011680" cy="365760"/>
          </a:xfrm>
          <a:prstGeom prst="rect">
            <a:avLst/>
          </a:prstGeom>
          <a:noFill/>
          <a:ln/>
        </p:spPr>
        <p:txBody>
          <a:bodyPr wrap="square" rtlCol="0" anchor="ctr"/>
          <a:lstStyle/>
          <a:p>
            <a:pPr marL="0" indent="0" algn="ctr">
              <a:buNone/>
            </a:pPr>
            <a:r>
              <a:rPr lang="en-US" sz="1200" b="1" dirty="0">
                <a:solidFill>
                  <a:srgbClr val="1A2B4A"/>
                </a:solidFill>
                <a:latin typeface="Calibri" pitchFamily="34" charset="0"/>
                <a:ea typeface="Calibri" pitchFamily="34" charset="-122"/>
                <a:cs typeface="Calibri" pitchFamily="34" charset="-120"/>
              </a:rPr>
              <a:t>Binary Encoding</a:t>
            </a:r>
            <a:endParaRPr lang="en-US" sz="1200" dirty="0"/>
          </a:p>
        </p:txBody>
      </p:sp>
      <p:sp>
        <p:nvSpPr>
          <p:cNvPr id="9" name="Text 7"/>
          <p:cNvSpPr/>
          <p:nvPr/>
        </p:nvSpPr>
        <p:spPr>
          <a:xfrm>
            <a:off x="320040" y="4187952"/>
            <a:ext cx="2011680" cy="5029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yes/no → 1/0 for 6 columns</a:t>
            </a:r>
            <a:endParaRPr lang="en-US" sz="1000" dirty="0"/>
          </a:p>
        </p:txBody>
      </p:sp>
      <p:sp>
        <p:nvSpPr>
          <p:cNvPr id="10" name="Shape 8"/>
          <p:cNvSpPr/>
          <p:nvPr/>
        </p:nvSpPr>
        <p:spPr>
          <a:xfrm>
            <a:off x="2468880" y="3200400"/>
            <a:ext cx="2011680" cy="1554480"/>
          </a:xfrm>
          <a:prstGeom prst="rect">
            <a:avLst/>
          </a:prstGeom>
          <a:solidFill>
            <a:srgbClr val="EFF6FF"/>
          </a:solidFill>
          <a:ln w="12700">
            <a:solidFill>
              <a:srgbClr val="06B6D4"/>
            </a:solidFill>
            <a:prstDash val="solid"/>
          </a:ln>
        </p:spPr>
      </p:sp>
      <p:sp>
        <p:nvSpPr>
          <p:cNvPr id="11" name="Shape 9"/>
          <p:cNvSpPr/>
          <p:nvPr/>
        </p:nvSpPr>
        <p:spPr>
          <a:xfrm>
            <a:off x="3218688" y="3246120"/>
            <a:ext cx="502920" cy="502920"/>
          </a:xfrm>
          <a:prstGeom prst="ellipse">
            <a:avLst/>
          </a:prstGeom>
          <a:solidFill>
            <a:srgbClr val="06B6D4"/>
          </a:solidFill>
          <a:ln w="12700">
            <a:solidFill>
              <a:srgbClr val="06B6D4"/>
            </a:solidFill>
            <a:prstDash val="solid"/>
          </a:ln>
        </p:spPr>
      </p:sp>
      <p:sp>
        <p:nvSpPr>
          <p:cNvPr id="12" name="Text 10"/>
          <p:cNvSpPr/>
          <p:nvPr/>
        </p:nvSpPr>
        <p:spPr>
          <a:xfrm>
            <a:off x="3218688" y="3255264"/>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2468880" y="3840480"/>
            <a:ext cx="2011680" cy="365760"/>
          </a:xfrm>
          <a:prstGeom prst="rect">
            <a:avLst/>
          </a:prstGeom>
          <a:noFill/>
          <a:ln/>
        </p:spPr>
        <p:txBody>
          <a:bodyPr wrap="square" rtlCol="0" anchor="ctr"/>
          <a:lstStyle/>
          <a:p>
            <a:pPr marL="0" indent="0" algn="ctr">
              <a:buNone/>
            </a:pPr>
            <a:r>
              <a:rPr lang="en-US" sz="1200" b="1" dirty="0">
                <a:solidFill>
                  <a:srgbClr val="1A2B4A"/>
                </a:solidFill>
                <a:latin typeface="Calibri" pitchFamily="34" charset="0"/>
                <a:ea typeface="Calibri" pitchFamily="34" charset="-122"/>
                <a:cs typeface="Calibri" pitchFamily="34" charset="-120"/>
              </a:rPr>
              <a:t>Ordinal Encoding</a:t>
            </a:r>
            <a:endParaRPr lang="en-US" sz="1200" dirty="0"/>
          </a:p>
        </p:txBody>
      </p:sp>
      <p:sp>
        <p:nvSpPr>
          <p:cNvPr id="14" name="Text 12"/>
          <p:cNvSpPr/>
          <p:nvPr/>
        </p:nvSpPr>
        <p:spPr>
          <a:xfrm>
            <a:off x="2468880" y="4187952"/>
            <a:ext cx="2011680" cy="5029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furnishingstatus → 0, 1, 2</a:t>
            </a:r>
            <a:endParaRPr lang="en-US" sz="1000" dirty="0"/>
          </a:p>
        </p:txBody>
      </p:sp>
      <p:sp>
        <p:nvSpPr>
          <p:cNvPr id="15" name="Shape 13"/>
          <p:cNvSpPr/>
          <p:nvPr/>
        </p:nvSpPr>
        <p:spPr>
          <a:xfrm>
            <a:off x="4617720" y="3200400"/>
            <a:ext cx="2011680" cy="1554480"/>
          </a:xfrm>
          <a:prstGeom prst="rect">
            <a:avLst/>
          </a:prstGeom>
          <a:solidFill>
            <a:srgbClr val="EFF6FF"/>
          </a:solidFill>
          <a:ln w="12700">
            <a:solidFill>
              <a:srgbClr val="06B6D4"/>
            </a:solidFill>
            <a:prstDash val="solid"/>
          </a:ln>
        </p:spPr>
      </p:sp>
      <p:sp>
        <p:nvSpPr>
          <p:cNvPr id="16" name="Shape 14"/>
          <p:cNvSpPr/>
          <p:nvPr/>
        </p:nvSpPr>
        <p:spPr>
          <a:xfrm>
            <a:off x="5367528" y="3246120"/>
            <a:ext cx="502920" cy="502920"/>
          </a:xfrm>
          <a:prstGeom prst="ellipse">
            <a:avLst/>
          </a:prstGeom>
          <a:solidFill>
            <a:srgbClr val="06B6D4"/>
          </a:solidFill>
          <a:ln w="12700">
            <a:solidFill>
              <a:srgbClr val="06B6D4"/>
            </a:solidFill>
            <a:prstDash val="solid"/>
          </a:ln>
        </p:spPr>
      </p:sp>
      <p:sp>
        <p:nvSpPr>
          <p:cNvPr id="17" name="Text 15"/>
          <p:cNvSpPr/>
          <p:nvPr/>
        </p:nvSpPr>
        <p:spPr>
          <a:xfrm>
            <a:off x="5367528" y="3255264"/>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4617720" y="3840480"/>
            <a:ext cx="2011680" cy="365760"/>
          </a:xfrm>
          <a:prstGeom prst="rect">
            <a:avLst/>
          </a:prstGeom>
          <a:noFill/>
          <a:ln/>
        </p:spPr>
        <p:txBody>
          <a:bodyPr wrap="square" rtlCol="0" anchor="ctr"/>
          <a:lstStyle/>
          <a:p>
            <a:pPr marL="0" indent="0" algn="ctr">
              <a:buNone/>
            </a:pPr>
            <a:r>
              <a:rPr lang="en-US" sz="1200" b="1" dirty="0">
                <a:solidFill>
                  <a:srgbClr val="1A2B4A"/>
                </a:solidFill>
                <a:latin typeface="Calibri" pitchFamily="34" charset="0"/>
                <a:ea typeface="Calibri" pitchFamily="34" charset="-122"/>
                <a:cs typeface="Calibri" pitchFamily="34" charset="-120"/>
              </a:rPr>
              <a:t>Standard Scaling</a:t>
            </a:r>
            <a:endParaRPr lang="en-US" sz="1200" dirty="0"/>
          </a:p>
        </p:txBody>
      </p:sp>
      <p:sp>
        <p:nvSpPr>
          <p:cNvPr id="19" name="Text 17"/>
          <p:cNvSpPr/>
          <p:nvPr/>
        </p:nvSpPr>
        <p:spPr>
          <a:xfrm>
            <a:off x="4617720" y="4187952"/>
            <a:ext cx="2011680" cy="5029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price &amp; area normalized (μ=0, σ=1)</a:t>
            </a:r>
            <a:endParaRPr lang="en-US" sz="1000" dirty="0"/>
          </a:p>
        </p:txBody>
      </p:sp>
      <p:sp>
        <p:nvSpPr>
          <p:cNvPr id="20" name="Shape 18"/>
          <p:cNvSpPr/>
          <p:nvPr/>
        </p:nvSpPr>
        <p:spPr>
          <a:xfrm>
            <a:off x="6766560" y="3200400"/>
            <a:ext cx="2011680" cy="1554480"/>
          </a:xfrm>
          <a:prstGeom prst="rect">
            <a:avLst/>
          </a:prstGeom>
          <a:solidFill>
            <a:srgbClr val="EFF6FF"/>
          </a:solidFill>
          <a:ln w="12700">
            <a:solidFill>
              <a:srgbClr val="06B6D4"/>
            </a:solidFill>
            <a:prstDash val="solid"/>
          </a:ln>
        </p:spPr>
      </p:sp>
      <p:sp>
        <p:nvSpPr>
          <p:cNvPr id="21" name="Shape 19"/>
          <p:cNvSpPr/>
          <p:nvPr/>
        </p:nvSpPr>
        <p:spPr>
          <a:xfrm>
            <a:off x="7516368" y="3246120"/>
            <a:ext cx="502920" cy="502920"/>
          </a:xfrm>
          <a:prstGeom prst="ellipse">
            <a:avLst/>
          </a:prstGeom>
          <a:solidFill>
            <a:srgbClr val="06B6D4"/>
          </a:solidFill>
          <a:ln w="12700">
            <a:solidFill>
              <a:srgbClr val="06B6D4"/>
            </a:solidFill>
            <a:prstDash val="solid"/>
          </a:ln>
        </p:spPr>
      </p:sp>
      <p:sp>
        <p:nvSpPr>
          <p:cNvPr id="22" name="Text 20"/>
          <p:cNvSpPr/>
          <p:nvPr/>
        </p:nvSpPr>
        <p:spPr>
          <a:xfrm>
            <a:off x="7516368" y="3255264"/>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6766560" y="3840480"/>
            <a:ext cx="2011680" cy="365760"/>
          </a:xfrm>
          <a:prstGeom prst="rect">
            <a:avLst/>
          </a:prstGeom>
          <a:noFill/>
          <a:ln/>
        </p:spPr>
        <p:txBody>
          <a:bodyPr wrap="square" rtlCol="0" anchor="ctr"/>
          <a:lstStyle/>
          <a:p>
            <a:pPr marL="0" indent="0" algn="ctr">
              <a:buNone/>
            </a:pPr>
            <a:r>
              <a:rPr lang="en-US" sz="1200" b="1" dirty="0">
                <a:solidFill>
                  <a:srgbClr val="1A2B4A"/>
                </a:solidFill>
                <a:latin typeface="Calibri" pitchFamily="34" charset="0"/>
                <a:ea typeface="Calibri" pitchFamily="34" charset="-122"/>
                <a:cs typeface="Calibri" pitchFamily="34" charset="-120"/>
              </a:rPr>
              <a:t>Train-Test Split</a:t>
            </a:r>
            <a:endParaRPr lang="en-US" sz="1200" dirty="0"/>
          </a:p>
        </p:txBody>
      </p:sp>
      <p:sp>
        <p:nvSpPr>
          <p:cNvPr id="24" name="Text 22"/>
          <p:cNvSpPr/>
          <p:nvPr/>
        </p:nvSpPr>
        <p:spPr>
          <a:xfrm>
            <a:off x="6766560" y="4187952"/>
            <a:ext cx="2011680" cy="5029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80% train / 20% test (random_state=42)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sp>
      <p:sp>
        <p:nvSpPr>
          <p:cNvPr id="3" name="Text 1"/>
          <p:cNvSpPr/>
          <p:nvPr/>
        </p:nvSpPr>
        <p:spPr>
          <a:xfrm>
            <a:off x="365760" y="13716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Model: Linear Regression</a:t>
            </a:r>
            <a:endParaRPr lang="en-US" sz="2800" dirty="0"/>
          </a:p>
        </p:txBody>
      </p:sp>
      <p:sp>
        <p:nvSpPr>
          <p:cNvPr id="4" name="Text 2"/>
          <p:cNvSpPr/>
          <p:nvPr/>
        </p:nvSpPr>
        <p:spPr>
          <a:xfrm>
            <a:off x="365760" y="1005840"/>
            <a:ext cx="5029200" cy="265176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Linear Regression from scikit-learn was selected as the predictive model for housing prices. This algorithm learns a linear relationship between the 12 input features and the scaled price. The model was trained on 80% of the data (436 samples) and evaluated on the remaining 20% (109 samples). The training used the Ordinary Least Squares (OLS) method to minimize the sum of squared residuals. Each feature was assigned a coefficient — bathrooms had the highest positive coefficient (0.587), followed by airconditioning (0.420) and hotwaterheating (0.368), indicating these features most strongly push predicted price upward. Area contributed 0.274, confirming its importance. The model intercept was -1.969, consistent with the standardized price scale. The final model achieved an R² score of 64.95%.</a:t>
            </a:r>
            <a:endParaRPr lang="en-US" sz="1250" dirty="0"/>
          </a:p>
        </p:txBody>
      </p:sp>
      <p:sp>
        <p:nvSpPr>
          <p:cNvPr id="5" name="Text 3"/>
          <p:cNvSpPr/>
          <p:nvPr/>
        </p:nvSpPr>
        <p:spPr>
          <a:xfrm>
            <a:off x="5577840" y="960120"/>
            <a:ext cx="3291840" cy="365760"/>
          </a:xfrm>
          <a:prstGeom prst="rect">
            <a:avLst/>
          </a:prstGeom>
          <a:noFill/>
          <a:ln/>
        </p:spPr>
        <p:txBody>
          <a:bodyPr wrap="square" rtlCol="0" anchor="ctr"/>
          <a:lstStyle/>
          <a:p>
            <a:pPr marL="0" indent="0">
              <a:buNone/>
            </a:pPr>
            <a:r>
              <a:rPr lang="en-US" sz="1300" b="1" dirty="0">
                <a:solidFill>
                  <a:srgbClr val="1A2B4A"/>
                </a:solidFill>
                <a:latin typeface="Calibri" pitchFamily="34" charset="0"/>
                <a:ea typeface="Calibri" pitchFamily="34" charset="-122"/>
                <a:cs typeface="Calibri" pitchFamily="34" charset="-120"/>
              </a:rPr>
              <a:t>Top Feature Coefficients</a:t>
            </a:r>
            <a:endParaRPr lang="en-US" sz="1300" dirty="0"/>
          </a:p>
        </p:txBody>
      </p:sp>
      <p:sp>
        <p:nvSpPr>
          <p:cNvPr id="6" name="Shape 4"/>
          <p:cNvSpPr/>
          <p:nvPr/>
        </p:nvSpPr>
        <p:spPr>
          <a:xfrm>
            <a:off x="5577840" y="1417320"/>
            <a:ext cx="2147011" cy="320040"/>
          </a:xfrm>
          <a:prstGeom prst="rect">
            <a:avLst/>
          </a:prstGeom>
          <a:solidFill>
            <a:srgbClr val="2563EB"/>
          </a:solidFill>
          <a:ln w="12700">
            <a:solidFill>
              <a:srgbClr val="2563EB"/>
            </a:solidFill>
            <a:prstDash val="solid"/>
          </a:ln>
        </p:spPr>
      </p:sp>
      <p:sp>
        <p:nvSpPr>
          <p:cNvPr id="7" name="Text 5"/>
          <p:cNvSpPr/>
          <p:nvPr/>
        </p:nvSpPr>
        <p:spPr>
          <a:xfrm>
            <a:off x="5577840" y="1417320"/>
            <a:ext cx="2286000" cy="320040"/>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Bathrooms</a:t>
            </a:r>
            <a:endParaRPr lang="en-US" sz="1100" dirty="0"/>
          </a:p>
        </p:txBody>
      </p:sp>
      <p:sp>
        <p:nvSpPr>
          <p:cNvPr id="8" name="Text 6"/>
          <p:cNvSpPr/>
          <p:nvPr/>
        </p:nvSpPr>
        <p:spPr>
          <a:xfrm>
            <a:off x="7770571" y="1417320"/>
            <a:ext cx="548640" cy="320040"/>
          </a:xfrm>
          <a:prstGeom prst="rect">
            <a:avLst/>
          </a:prstGeom>
          <a:noFill/>
          <a:ln/>
        </p:spPr>
        <p:txBody>
          <a:bodyPr wrap="square"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0.587</a:t>
            </a:r>
            <a:endParaRPr lang="en-US" sz="1100" dirty="0"/>
          </a:p>
        </p:txBody>
      </p:sp>
      <p:sp>
        <p:nvSpPr>
          <p:cNvPr id="9" name="Shape 7"/>
          <p:cNvSpPr/>
          <p:nvPr/>
        </p:nvSpPr>
        <p:spPr>
          <a:xfrm>
            <a:off x="5577840" y="1911096"/>
            <a:ext cx="1536192" cy="320040"/>
          </a:xfrm>
          <a:prstGeom prst="rect">
            <a:avLst/>
          </a:prstGeom>
          <a:solidFill>
            <a:srgbClr val="2563EB"/>
          </a:solidFill>
          <a:ln w="12700">
            <a:solidFill>
              <a:srgbClr val="2563EB"/>
            </a:solidFill>
            <a:prstDash val="solid"/>
          </a:ln>
        </p:spPr>
      </p:sp>
      <p:sp>
        <p:nvSpPr>
          <p:cNvPr id="10" name="Text 8"/>
          <p:cNvSpPr/>
          <p:nvPr/>
        </p:nvSpPr>
        <p:spPr>
          <a:xfrm>
            <a:off x="5577840" y="1911096"/>
            <a:ext cx="2286000" cy="320040"/>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Air Conditioning</a:t>
            </a:r>
            <a:endParaRPr lang="en-US" sz="1100" dirty="0"/>
          </a:p>
        </p:txBody>
      </p:sp>
      <p:sp>
        <p:nvSpPr>
          <p:cNvPr id="11" name="Text 9"/>
          <p:cNvSpPr/>
          <p:nvPr/>
        </p:nvSpPr>
        <p:spPr>
          <a:xfrm>
            <a:off x="7159752" y="1911096"/>
            <a:ext cx="548640" cy="320040"/>
          </a:xfrm>
          <a:prstGeom prst="rect">
            <a:avLst/>
          </a:prstGeom>
          <a:noFill/>
          <a:ln/>
        </p:spPr>
        <p:txBody>
          <a:bodyPr wrap="square"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0.420</a:t>
            </a:r>
            <a:endParaRPr lang="en-US" sz="1100" dirty="0"/>
          </a:p>
        </p:txBody>
      </p:sp>
      <p:sp>
        <p:nvSpPr>
          <p:cNvPr id="12" name="Shape 10"/>
          <p:cNvSpPr/>
          <p:nvPr/>
        </p:nvSpPr>
        <p:spPr>
          <a:xfrm>
            <a:off x="5577840" y="2404872"/>
            <a:ext cx="1345997" cy="320040"/>
          </a:xfrm>
          <a:prstGeom prst="rect">
            <a:avLst/>
          </a:prstGeom>
          <a:solidFill>
            <a:srgbClr val="06B6D4"/>
          </a:solidFill>
          <a:ln w="12700">
            <a:solidFill>
              <a:srgbClr val="06B6D4"/>
            </a:solidFill>
            <a:prstDash val="solid"/>
          </a:ln>
        </p:spPr>
      </p:sp>
      <p:sp>
        <p:nvSpPr>
          <p:cNvPr id="13" name="Text 11"/>
          <p:cNvSpPr/>
          <p:nvPr/>
        </p:nvSpPr>
        <p:spPr>
          <a:xfrm>
            <a:off x="5577840" y="2404872"/>
            <a:ext cx="2286000" cy="320040"/>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Hot Water Htg</a:t>
            </a:r>
            <a:endParaRPr lang="en-US" sz="1100" dirty="0"/>
          </a:p>
        </p:txBody>
      </p:sp>
      <p:sp>
        <p:nvSpPr>
          <p:cNvPr id="14" name="Text 12"/>
          <p:cNvSpPr/>
          <p:nvPr/>
        </p:nvSpPr>
        <p:spPr>
          <a:xfrm>
            <a:off x="6969557" y="2404872"/>
            <a:ext cx="548640" cy="320040"/>
          </a:xfrm>
          <a:prstGeom prst="rect">
            <a:avLst/>
          </a:prstGeom>
          <a:noFill/>
          <a:ln/>
        </p:spPr>
        <p:txBody>
          <a:bodyPr wrap="square"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0.368</a:t>
            </a:r>
            <a:endParaRPr lang="en-US" sz="1100" dirty="0"/>
          </a:p>
        </p:txBody>
      </p:sp>
      <p:sp>
        <p:nvSpPr>
          <p:cNvPr id="15" name="Shape 13"/>
          <p:cNvSpPr/>
          <p:nvPr/>
        </p:nvSpPr>
        <p:spPr>
          <a:xfrm>
            <a:off x="5577840" y="2898648"/>
            <a:ext cx="1232611" cy="320040"/>
          </a:xfrm>
          <a:prstGeom prst="rect">
            <a:avLst/>
          </a:prstGeom>
          <a:solidFill>
            <a:srgbClr val="06B6D4"/>
          </a:solidFill>
          <a:ln w="12700">
            <a:solidFill>
              <a:srgbClr val="06B6D4"/>
            </a:solidFill>
            <a:prstDash val="solid"/>
          </a:ln>
        </p:spPr>
      </p:sp>
      <p:sp>
        <p:nvSpPr>
          <p:cNvPr id="16" name="Text 14"/>
          <p:cNvSpPr/>
          <p:nvPr/>
        </p:nvSpPr>
        <p:spPr>
          <a:xfrm>
            <a:off x="5577840" y="2898648"/>
            <a:ext cx="2286000" cy="320040"/>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Pref Area</a:t>
            </a:r>
            <a:endParaRPr lang="en-US" sz="1100" dirty="0"/>
          </a:p>
        </p:txBody>
      </p:sp>
      <p:sp>
        <p:nvSpPr>
          <p:cNvPr id="17" name="Text 15"/>
          <p:cNvSpPr/>
          <p:nvPr/>
        </p:nvSpPr>
        <p:spPr>
          <a:xfrm>
            <a:off x="6856171" y="2898648"/>
            <a:ext cx="548640" cy="320040"/>
          </a:xfrm>
          <a:prstGeom prst="rect">
            <a:avLst/>
          </a:prstGeom>
          <a:noFill/>
          <a:ln/>
        </p:spPr>
        <p:txBody>
          <a:bodyPr wrap="square"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0.337</a:t>
            </a:r>
            <a:endParaRPr lang="en-US" sz="1100" dirty="0"/>
          </a:p>
        </p:txBody>
      </p:sp>
      <p:sp>
        <p:nvSpPr>
          <p:cNvPr id="18" name="Shape 16"/>
          <p:cNvSpPr/>
          <p:nvPr/>
        </p:nvSpPr>
        <p:spPr>
          <a:xfrm>
            <a:off x="5577840" y="3392424"/>
            <a:ext cx="1002182" cy="320040"/>
          </a:xfrm>
          <a:prstGeom prst="rect">
            <a:avLst/>
          </a:prstGeom>
          <a:solidFill>
            <a:srgbClr val="06B6D4"/>
          </a:solidFill>
          <a:ln w="12700">
            <a:solidFill>
              <a:srgbClr val="06B6D4"/>
            </a:solidFill>
            <a:prstDash val="solid"/>
          </a:ln>
        </p:spPr>
      </p:sp>
      <p:sp>
        <p:nvSpPr>
          <p:cNvPr id="19" name="Text 17"/>
          <p:cNvSpPr/>
          <p:nvPr/>
        </p:nvSpPr>
        <p:spPr>
          <a:xfrm>
            <a:off x="5577840" y="3392424"/>
            <a:ext cx="2286000" cy="320040"/>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Area</a:t>
            </a:r>
            <a:endParaRPr lang="en-US" sz="1100" dirty="0"/>
          </a:p>
        </p:txBody>
      </p:sp>
      <p:sp>
        <p:nvSpPr>
          <p:cNvPr id="20" name="Text 18"/>
          <p:cNvSpPr/>
          <p:nvPr/>
        </p:nvSpPr>
        <p:spPr>
          <a:xfrm>
            <a:off x="6625742" y="3392424"/>
            <a:ext cx="548640" cy="320040"/>
          </a:xfrm>
          <a:prstGeom prst="rect">
            <a:avLst/>
          </a:prstGeom>
          <a:noFill/>
          <a:ln/>
        </p:spPr>
        <p:txBody>
          <a:bodyPr wrap="square"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0.274</a:t>
            </a:r>
            <a:endParaRPr lang="en-US" sz="1100" dirty="0"/>
          </a:p>
        </p:txBody>
      </p:sp>
      <p:sp>
        <p:nvSpPr>
          <p:cNvPr id="21" name="Shape 19"/>
          <p:cNvSpPr/>
          <p:nvPr/>
        </p:nvSpPr>
        <p:spPr>
          <a:xfrm>
            <a:off x="5577840" y="3886200"/>
            <a:ext cx="793699" cy="320040"/>
          </a:xfrm>
          <a:prstGeom prst="rect">
            <a:avLst/>
          </a:prstGeom>
          <a:solidFill>
            <a:srgbClr val="06B6D4"/>
          </a:solidFill>
          <a:ln w="12700">
            <a:solidFill>
              <a:srgbClr val="06B6D4"/>
            </a:solidFill>
            <a:prstDash val="solid"/>
          </a:ln>
        </p:spPr>
      </p:sp>
      <p:sp>
        <p:nvSpPr>
          <p:cNvPr id="22" name="Text 20"/>
          <p:cNvSpPr/>
          <p:nvPr/>
        </p:nvSpPr>
        <p:spPr>
          <a:xfrm>
            <a:off x="5577840" y="3886200"/>
            <a:ext cx="2286000" cy="320040"/>
          </a:xfrm>
          <a:prstGeom prst="rect">
            <a:avLst/>
          </a:prstGeom>
          <a:noFill/>
          <a:ln/>
        </p:spPr>
        <p:txBody>
          <a:bodyPr wrap="square" lIns="50800" tIns="50800" rIns="50800" bIns="5080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Stories</a:t>
            </a:r>
            <a:endParaRPr lang="en-US" sz="1100" dirty="0"/>
          </a:p>
        </p:txBody>
      </p:sp>
      <p:sp>
        <p:nvSpPr>
          <p:cNvPr id="23" name="Text 21"/>
          <p:cNvSpPr/>
          <p:nvPr/>
        </p:nvSpPr>
        <p:spPr>
          <a:xfrm>
            <a:off x="6417259" y="3886200"/>
            <a:ext cx="548640" cy="320040"/>
          </a:xfrm>
          <a:prstGeom prst="rect">
            <a:avLst/>
          </a:prstGeom>
          <a:noFill/>
          <a:ln/>
        </p:spPr>
        <p:txBody>
          <a:bodyPr wrap="square"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0.217</a:t>
            </a:r>
            <a:endParaRPr lang="en-US" sz="1100" dirty="0"/>
          </a:p>
        </p:txBody>
      </p:sp>
      <p:sp>
        <p:nvSpPr>
          <p:cNvPr id="24" name="Shape 22"/>
          <p:cNvSpPr/>
          <p:nvPr/>
        </p:nvSpPr>
        <p:spPr>
          <a:xfrm>
            <a:off x="365760" y="3749040"/>
            <a:ext cx="5029200" cy="1234440"/>
          </a:xfrm>
          <a:prstGeom prst="rect">
            <a:avLst/>
          </a:prstGeom>
          <a:solidFill>
            <a:srgbClr val="EEF2FF"/>
          </a:solidFill>
          <a:ln w="12700">
            <a:solidFill>
              <a:srgbClr val="2563EB"/>
            </a:solidFill>
            <a:prstDash val="solid"/>
          </a:ln>
        </p:spPr>
      </p:sp>
      <p:sp>
        <p:nvSpPr>
          <p:cNvPr id="25" name="Text 23"/>
          <p:cNvSpPr/>
          <p:nvPr/>
        </p:nvSpPr>
        <p:spPr>
          <a:xfrm>
            <a:off x="502920" y="3794760"/>
            <a:ext cx="4754880" cy="320040"/>
          </a:xfrm>
          <a:prstGeom prst="rect">
            <a:avLst/>
          </a:prstGeom>
          <a:noFill/>
          <a:ln/>
        </p:spPr>
        <p:txBody>
          <a:bodyPr wrap="square" rtlCol="0" anchor="ctr"/>
          <a:lstStyle/>
          <a:p>
            <a:pPr marL="0" indent="0">
              <a:buNone/>
            </a:pPr>
            <a:r>
              <a:rPr lang="en-US" sz="1200" b="1" dirty="0">
                <a:solidFill>
                  <a:srgbClr val="2563EB"/>
                </a:solidFill>
                <a:latin typeface="Calibri" pitchFamily="34" charset="0"/>
                <a:ea typeface="Calibri" pitchFamily="34" charset="-122"/>
                <a:cs typeface="Calibri" pitchFamily="34" charset="-120"/>
              </a:rPr>
              <a:t>Model Configuration</a:t>
            </a:r>
            <a:endParaRPr lang="en-US" sz="1200" dirty="0"/>
          </a:p>
        </p:txBody>
      </p:sp>
      <p:sp>
        <p:nvSpPr>
          <p:cNvPr id="26" name="Text 24"/>
          <p:cNvSpPr/>
          <p:nvPr/>
        </p:nvSpPr>
        <p:spPr>
          <a:xfrm>
            <a:off x="502920" y="4114800"/>
            <a:ext cx="4754880" cy="77724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Algorithm: LinearRegression (OLS)  |  Test Size: 20%  |  random_state: 42</a:t>
            </a: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Features: 12  |  Training Samples: 436  |  Test Samples: 109</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563EB"/>
          </a:solidFill>
          <a:ln w="12700">
            <a:solidFill>
              <a:srgbClr val="2563EB"/>
            </a:solidFill>
            <a:prstDash val="solid"/>
          </a:ln>
        </p:spPr>
      </p:sp>
      <p:sp>
        <p:nvSpPr>
          <p:cNvPr id="3" name="Text 1"/>
          <p:cNvSpPr/>
          <p:nvPr/>
        </p:nvSpPr>
        <p:spPr>
          <a:xfrm>
            <a:off x="365760" y="13716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Model Results &amp; Evaluation</a:t>
            </a:r>
            <a:endParaRPr lang="en-US" sz="2800" dirty="0"/>
          </a:p>
        </p:txBody>
      </p:sp>
      <p:sp>
        <p:nvSpPr>
          <p:cNvPr id="4" name="Shape 2"/>
          <p:cNvSpPr/>
          <p:nvPr/>
        </p:nvSpPr>
        <p:spPr>
          <a:xfrm>
            <a:off x="320040" y="1005840"/>
            <a:ext cx="2560320" cy="1188720"/>
          </a:xfrm>
          <a:prstGeom prst="rect">
            <a:avLst/>
          </a:prstGeom>
          <a:solidFill>
            <a:srgbClr val="EFF6FF"/>
          </a:solidFill>
          <a:ln w="12700">
            <a:solidFill>
              <a:srgbClr val="10B981"/>
            </a:solidFill>
            <a:prstDash val="solid"/>
          </a:ln>
          <a:effectLst>
            <a:outerShdw blurRad="101600" dist="25400" dir="8100000" algn="bl" rotWithShape="0">
              <a:srgbClr val="000000">
                <a:alpha val="10000"/>
              </a:srgbClr>
            </a:outerShdw>
          </a:effectLst>
        </p:spPr>
      </p:sp>
      <p:sp>
        <p:nvSpPr>
          <p:cNvPr id="5" name="Text 3"/>
          <p:cNvSpPr/>
          <p:nvPr/>
        </p:nvSpPr>
        <p:spPr>
          <a:xfrm>
            <a:off x="320040" y="1078992"/>
            <a:ext cx="2560320" cy="594360"/>
          </a:xfrm>
          <a:prstGeom prst="rect">
            <a:avLst/>
          </a:prstGeom>
          <a:noFill/>
          <a:ln/>
        </p:spPr>
        <p:txBody>
          <a:bodyPr wrap="square" rtlCol="0" anchor="ctr"/>
          <a:lstStyle/>
          <a:p>
            <a:pPr marL="0" indent="0" algn="ctr">
              <a:buNone/>
            </a:pPr>
            <a:r>
              <a:rPr lang="en-US" sz="2800" b="1" dirty="0">
                <a:solidFill>
                  <a:srgbClr val="10B981"/>
                </a:solidFill>
                <a:latin typeface="Calibri" pitchFamily="34" charset="0"/>
                <a:ea typeface="Calibri" pitchFamily="34" charset="-122"/>
                <a:cs typeface="Calibri" pitchFamily="34" charset="-120"/>
              </a:rPr>
              <a:t>64.95%</a:t>
            </a:r>
            <a:endParaRPr lang="en-US" sz="2800" dirty="0"/>
          </a:p>
        </p:txBody>
      </p:sp>
      <p:sp>
        <p:nvSpPr>
          <p:cNvPr id="6" name="Text 4"/>
          <p:cNvSpPr/>
          <p:nvPr/>
        </p:nvSpPr>
        <p:spPr>
          <a:xfrm>
            <a:off x="320040" y="1664208"/>
            <a:ext cx="2560320" cy="36576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R² Score</a:t>
            </a:r>
            <a:endParaRPr lang="en-US" sz="1200" dirty="0"/>
          </a:p>
        </p:txBody>
      </p:sp>
      <p:sp>
        <p:nvSpPr>
          <p:cNvPr id="7" name="Shape 5"/>
          <p:cNvSpPr/>
          <p:nvPr/>
        </p:nvSpPr>
        <p:spPr>
          <a:xfrm>
            <a:off x="3154680" y="1005840"/>
            <a:ext cx="2560320" cy="1188720"/>
          </a:xfrm>
          <a:prstGeom prst="rect">
            <a:avLst/>
          </a:prstGeom>
          <a:solidFill>
            <a:srgbClr val="EFF6FF"/>
          </a:solidFill>
          <a:ln w="12700">
            <a:solidFill>
              <a:srgbClr val="2563EB"/>
            </a:solidFill>
            <a:prstDash val="solid"/>
          </a:ln>
          <a:effectLst>
            <a:outerShdw blurRad="101600" dist="25400" dir="8100000" algn="bl" rotWithShape="0">
              <a:srgbClr val="000000">
                <a:alpha val="10000"/>
              </a:srgbClr>
            </a:outerShdw>
          </a:effectLst>
        </p:spPr>
      </p:sp>
      <p:sp>
        <p:nvSpPr>
          <p:cNvPr id="8" name="Text 6"/>
          <p:cNvSpPr/>
          <p:nvPr/>
        </p:nvSpPr>
        <p:spPr>
          <a:xfrm>
            <a:off x="3154680" y="1078992"/>
            <a:ext cx="2560320" cy="594360"/>
          </a:xfrm>
          <a:prstGeom prst="rect">
            <a:avLst/>
          </a:prstGeom>
          <a:noFill/>
          <a:ln/>
        </p:spPr>
        <p:txBody>
          <a:bodyPr wrap="square" rtlCol="0" anchor="ctr"/>
          <a:lstStyle/>
          <a:p>
            <a:pPr marL="0" indent="0" algn="ctr">
              <a:buNone/>
            </a:pPr>
            <a:r>
              <a:rPr lang="en-US" sz="2800" b="1" dirty="0">
                <a:solidFill>
                  <a:srgbClr val="2563EB"/>
                </a:solidFill>
                <a:latin typeface="Calibri" pitchFamily="34" charset="0"/>
                <a:ea typeface="Calibri" pitchFamily="34" charset="-122"/>
                <a:cs typeface="Calibri" pitchFamily="34" charset="-120"/>
              </a:rPr>
              <a:t>0.5243</a:t>
            </a:r>
            <a:endParaRPr lang="en-US" sz="2800" dirty="0"/>
          </a:p>
        </p:txBody>
      </p:sp>
      <p:sp>
        <p:nvSpPr>
          <p:cNvPr id="9" name="Text 7"/>
          <p:cNvSpPr/>
          <p:nvPr/>
        </p:nvSpPr>
        <p:spPr>
          <a:xfrm>
            <a:off x="3154680" y="1664208"/>
            <a:ext cx="2560320" cy="36576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MAE</a:t>
            </a:r>
            <a:endParaRPr lang="en-US" sz="1200" dirty="0"/>
          </a:p>
        </p:txBody>
      </p:sp>
      <p:sp>
        <p:nvSpPr>
          <p:cNvPr id="10" name="Shape 8"/>
          <p:cNvSpPr/>
          <p:nvPr/>
        </p:nvSpPr>
        <p:spPr>
          <a:xfrm>
            <a:off x="5989320" y="1005840"/>
            <a:ext cx="2560320" cy="1188720"/>
          </a:xfrm>
          <a:prstGeom prst="rect">
            <a:avLst/>
          </a:prstGeom>
          <a:solidFill>
            <a:srgbClr val="EFF6FF"/>
          </a:solidFill>
          <a:ln w="12700">
            <a:solidFill>
              <a:srgbClr val="06B6D4"/>
            </a:solidFill>
            <a:prstDash val="solid"/>
          </a:ln>
          <a:effectLst>
            <a:outerShdw blurRad="101600" dist="25400" dir="8100000" algn="bl" rotWithShape="0">
              <a:srgbClr val="000000">
                <a:alpha val="10000"/>
              </a:srgbClr>
            </a:outerShdw>
          </a:effectLst>
        </p:spPr>
      </p:sp>
      <p:sp>
        <p:nvSpPr>
          <p:cNvPr id="11" name="Text 9"/>
          <p:cNvSpPr/>
          <p:nvPr/>
        </p:nvSpPr>
        <p:spPr>
          <a:xfrm>
            <a:off x="5989320" y="1078992"/>
            <a:ext cx="2560320" cy="594360"/>
          </a:xfrm>
          <a:prstGeom prst="rect">
            <a:avLst/>
          </a:prstGeom>
          <a:noFill/>
          <a:ln/>
        </p:spPr>
        <p:txBody>
          <a:bodyPr wrap="square" rtlCol="0" anchor="ctr"/>
          <a:lstStyle/>
          <a:p>
            <a:pPr marL="0" indent="0" algn="ctr">
              <a:buNone/>
            </a:pPr>
            <a:r>
              <a:rPr lang="en-US" sz="2800" b="1" dirty="0">
                <a:solidFill>
                  <a:srgbClr val="06B6D4"/>
                </a:solidFill>
                <a:latin typeface="Calibri" pitchFamily="34" charset="0"/>
                <a:ea typeface="Calibri" pitchFamily="34" charset="-122"/>
                <a:cs typeface="Calibri" pitchFamily="34" charset="-120"/>
              </a:rPr>
              <a:t>0.7123</a:t>
            </a:r>
            <a:endParaRPr lang="en-US" sz="2800" dirty="0"/>
          </a:p>
        </p:txBody>
      </p:sp>
      <p:sp>
        <p:nvSpPr>
          <p:cNvPr id="12" name="Text 10"/>
          <p:cNvSpPr/>
          <p:nvPr/>
        </p:nvSpPr>
        <p:spPr>
          <a:xfrm>
            <a:off x="5989320" y="1664208"/>
            <a:ext cx="2560320" cy="36576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RMSE</a:t>
            </a:r>
            <a:endParaRPr lang="en-US" sz="1200" dirty="0"/>
          </a:p>
        </p:txBody>
      </p:sp>
      <p:sp>
        <p:nvSpPr>
          <p:cNvPr id="13" name="Text 11"/>
          <p:cNvSpPr/>
          <p:nvPr/>
        </p:nvSpPr>
        <p:spPr>
          <a:xfrm>
            <a:off x="365760" y="2331720"/>
            <a:ext cx="4114800" cy="2560320"/>
          </a:xfrm>
          <a:prstGeom prst="rect">
            <a:avLst/>
          </a:prstGeom>
          <a:noFill/>
          <a:ln/>
        </p:spPr>
        <p:txBody>
          <a:bodyPr wrap="square" rtlCol="0" anchor="t"/>
          <a:lstStyle/>
          <a:p>
            <a:pPr marL="0" indent="0">
              <a:buNone/>
            </a:pPr>
            <a:r>
              <a:rPr lang="en-US" sz="1250" dirty="0">
                <a:solidFill>
                  <a:srgbClr val="1E293B"/>
                </a:solidFill>
                <a:latin typeface="Calibri" pitchFamily="34" charset="0"/>
                <a:ea typeface="Calibri" pitchFamily="34" charset="-122"/>
                <a:cs typeface="Calibri" pitchFamily="34" charset="-120"/>
              </a:rPr>
              <a:t>The Linear Regression model achieved an R² score of 64.95%, explaining ~65% of variance in housing prices. The Mean Absolute Error (MAE) of 0.524 and RMSE of 0.712 are in scaled units (StandardScaler applied to price). The scatter plot of actual vs. predicted values shows a reasonable linear trend hugging the 45° reference line, with moderate scatter indicating the model captures the dominant pricing factors while leaving room for improvement with more complex algorithms. Features like bathrooms, airconditioning, and area are the strongest predictors. The model performs reliably in mid-range price segments but shows higher error at extreme values, a typical characteristic of linear models on real estate data.</a:t>
            </a:r>
            <a:endParaRPr lang="en-US" sz="1250" dirty="0"/>
          </a:p>
        </p:txBody>
      </p:sp>
      <p:pic>
        <p:nvPicPr>
          <p:cNvPr id="14" name="Image 0" descr="preencoded.png"/>
          <p:cNvPicPr>
            <a:picLocks noChangeAspect="1"/>
          </p:cNvPicPr>
          <p:nvPr/>
        </p:nvPicPr>
        <p:blipFill>
          <a:blip r:embed="rId3"/>
          <a:stretch>
            <a:fillRect/>
          </a:stretch>
        </p:blipFill>
        <p:spPr>
          <a:xfrm>
            <a:off x="4572000" y="1005840"/>
            <a:ext cx="4297680" cy="3931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sp>
      <p:sp>
        <p:nvSpPr>
          <p:cNvPr id="3" name="Text 1"/>
          <p:cNvSpPr/>
          <p:nvPr/>
        </p:nvSpPr>
        <p:spPr>
          <a:xfrm>
            <a:off x="365760" y="137160"/>
            <a:ext cx="82296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Feature Importance</a:t>
            </a:r>
            <a:endParaRPr lang="en-US" sz="2800" dirty="0"/>
          </a:p>
        </p:txBody>
      </p:sp>
      <p:pic>
        <p:nvPicPr>
          <p:cNvPr id="4" name="Image 0" descr="preencoded.png"/>
          <p:cNvPicPr>
            <a:picLocks noChangeAspect="1"/>
          </p:cNvPicPr>
          <p:nvPr/>
        </p:nvPicPr>
        <p:blipFill>
          <a:blip r:embed="rId3"/>
          <a:stretch>
            <a:fillRect/>
          </a:stretch>
        </p:blipFill>
        <p:spPr>
          <a:xfrm>
            <a:off x="274320" y="960120"/>
            <a:ext cx="4937760" cy="3474720"/>
          </a:xfrm>
          <a:prstGeom prst="rect">
            <a:avLst/>
          </a:prstGeom>
        </p:spPr>
      </p:pic>
      <p:sp>
        <p:nvSpPr>
          <p:cNvPr id="5" name="Text 2"/>
          <p:cNvSpPr/>
          <p:nvPr/>
        </p:nvSpPr>
        <p:spPr>
          <a:xfrm>
            <a:off x="5303520" y="1005840"/>
            <a:ext cx="3566160" cy="374904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All 12 features carry positive coefficients, meaning they each contribute positively to the predicted price. Bathrooms (0.587) is the single strongest predictor, underscoring buyer preference for sanitation facilities. Air conditioning (0.420) is second, reflecting premium valuation of comfort amenities. Hot water heating (0.368) and preferred area (0.337) follow closely. Physical dimensions like area (0.274) and stories (0.217) also matter. Parking and guestroom contribute modestly. Furnishing status and bedrooms have the smallest positive coefficients, suggesting they are less decisive factors once other amenities are accounted for. No feature negatively impacts the price in this linear model.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B6D4"/>
          </a:solidFill>
          <a:ln w="12700">
            <a:solidFill>
              <a:srgbClr val="06B6D4"/>
            </a:solidFill>
            <a:prstDash val="solid"/>
          </a:ln>
        </p:spPr>
      </p:sp>
      <p:sp>
        <p:nvSpPr>
          <p:cNvPr id="3" name="Text 1"/>
          <p:cNvSpPr/>
          <p:nvPr/>
        </p:nvSpPr>
        <p:spPr>
          <a:xfrm>
            <a:off x="457200" y="457200"/>
            <a:ext cx="82296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Conclusion &amp; Future Scope</a:t>
            </a:r>
            <a:endParaRPr lang="en-US" sz="3200" dirty="0"/>
          </a:p>
        </p:txBody>
      </p:sp>
      <p:sp>
        <p:nvSpPr>
          <p:cNvPr id="4" name="Text 2"/>
          <p:cNvSpPr/>
          <p:nvPr/>
        </p:nvSpPr>
        <p:spPr>
          <a:xfrm>
            <a:off x="457200" y="1188720"/>
            <a:ext cx="8229600" cy="2194560"/>
          </a:xfrm>
          <a:prstGeom prst="rect">
            <a:avLst/>
          </a:prstGeom>
          <a:noFill/>
          <a:ln/>
        </p:spPr>
        <p:txBody>
          <a:bodyPr wrap="square" rtlCol="0" anchor="t"/>
          <a:lstStyle/>
          <a:p>
            <a:pPr marL="0" indent="0">
              <a:buNone/>
            </a:pPr>
            <a:r>
              <a:rPr lang="en-US" sz="1350" dirty="0">
                <a:solidFill>
                  <a:srgbClr val="CBD5E1"/>
                </a:solidFill>
                <a:latin typeface="Calibri" pitchFamily="34" charset="0"/>
                <a:ea typeface="Calibri" pitchFamily="34" charset="-122"/>
                <a:cs typeface="Calibri" pitchFamily="34" charset="-120"/>
              </a:rPr>
              <a:t>The Housing Price Prediction project successfully demonstrated an end-to-end machine learning workflow — from raw data ingestion and EDA to preprocessing, model training, and evaluation. The Linear Regression model achieved an R² of 64.95%, validating that property attributes can meaningfully predict prices. Key drivers identified were bathrooms, air conditioning, hot water heating, and preferred area. The dataset's completeness (zero missing values) facilitated clean preprocessing. Future enhancements could include trying ensemble models (Random Forest, XGBoost), feature engineering (price-per-sqft), hyperparameter tuning, cross-validation, and incorporating external factors like neighborhood crime rates or school ratings to push model accuracy beyond 80%.</a:t>
            </a:r>
            <a:endParaRPr lang="en-US" sz="1350" dirty="0"/>
          </a:p>
        </p:txBody>
      </p:sp>
      <p:sp>
        <p:nvSpPr>
          <p:cNvPr id="6" name="Text 4"/>
          <p:cNvSpPr/>
          <p:nvPr/>
        </p:nvSpPr>
        <p:spPr>
          <a:xfrm>
            <a:off x="365760" y="3730752"/>
            <a:ext cx="1920240" cy="502920"/>
          </a:xfrm>
          <a:prstGeom prst="rect">
            <a:avLst/>
          </a:prstGeom>
          <a:noFill/>
          <a:ln/>
        </p:spPr>
        <p:txBody>
          <a:bodyPr wrap="square" rtlCol="0" anchor="ctr"/>
          <a:lstStyle/>
          <a:p>
            <a:pPr marL="0" indent="0" algn="ctr">
              <a:buNone/>
            </a:pPr>
            <a:endParaRPr lang="en-US" sz="1600" dirty="0"/>
          </a:p>
        </p:txBody>
      </p:sp>
      <p:sp>
        <p:nvSpPr>
          <p:cNvPr id="7" name="Text 5"/>
          <p:cNvSpPr/>
          <p:nvPr/>
        </p:nvSpPr>
        <p:spPr>
          <a:xfrm>
            <a:off x="365760" y="4224528"/>
            <a:ext cx="1920240" cy="365760"/>
          </a:xfrm>
          <a:prstGeom prst="rect">
            <a:avLst/>
          </a:prstGeom>
          <a:noFill/>
          <a:ln/>
        </p:spPr>
        <p:txBody>
          <a:bodyPr wrap="square" rtlCol="0" anchor="ctr"/>
          <a:lstStyle/>
          <a:p>
            <a:pPr marL="0" indent="0" algn="ctr">
              <a:buNone/>
            </a:pPr>
            <a:endParaRPr lang="en-US" sz="1100" dirty="0"/>
          </a:p>
        </p:txBody>
      </p:sp>
      <p:sp>
        <p:nvSpPr>
          <p:cNvPr id="8" name="Shape 6"/>
          <p:cNvSpPr/>
          <p:nvPr/>
        </p:nvSpPr>
        <p:spPr>
          <a:xfrm>
            <a:off x="2468880" y="3657600"/>
            <a:ext cx="1920240" cy="1234440"/>
          </a:xfrm>
          <a:prstGeom prst="rect">
            <a:avLst/>
          </a:prstGeom>
          <a:solidFill>
            <a:srgbClr val="0F172A"/>
          </a:solidFill>
          <a:ln w="12700">
            <a:solidFill>
              <a:srgbClr val="06B6D4"/>
            </a:solidFill>
            <a:prstDash val="solid"/>
          </a:ln>
        </p:spPr>
      </p:sp>
      <p:sp>
        <p:nvSpPr>
          <p:cNvPr id="9" name="Text 7"/>
          <p:cNvSpPr/>
          <p:nvPr/>
        </p:nvSpPr>
        <p:spPr>
          <a:xfrm>
            <a:off x="2468880" y="3730752"/>
            <a:ext cx="1920240" cy="502920"/>
          </a:xfrm>
          <a:prstGeom prst="rect">
            <a:avLst/>
          </a:prstGeom>
          <a:noFill/>
          <a:ln/>
        </p:spPr>
        <p:txBody>
          <a:bodyPr wrap="square" rtlCol="0" anchor="ctr"/>
          <a:lstStyle/>
          <a:p>
            <a:pPr marL="0" indent="0" algn="ctr">
              <a:buNone/>
            </a:pPr>
            <a:r>
              <a:rPr lang="en-US" sz="1600" b="1" dirty="0">
                <a:solidFill>
                  <a:srgbClr val="06B6D4"/>
                </a:solidFill>
                <a:latin typeface="Calibri" pitchFamily="34" charset="0"/>
                <a:ea typeface="Calibri" pitchFamily="34" charset="-122"/>
                <a:cs typeface="Calibri" pitchFamily="34" charset="-120"/>
              </a:rPr>
              <a:t>Top Predictor</a:t>
            </a:r>
            <a:endParaRPr lang="en-US" sz="1600" dirty="0"/>
          </a:p>
        </p:txBody>
      </p:sp>
      <p:sp>
        <p:nvSpPr>
          <p:cNvPr id="10" name="Text 8"/>
          <p:cNvSpPr/>
          <p:nvPr/>
        </p:nvSpPr>
        <p:spPr>
          <a:xfrm>
            <a:off x="2468880" y="4224528"/>
            <a:ext cx="1920240" cy="365760"/>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Bathrooms</a:t>
            </a:r>
            <a:endParaRPr lang="en-US" sz="1100" dirty="0"/>
          </a:p>
        </p:txBody>
      </p:sp>
      <p:sp>
        <p:nvSpPr>
          <p:cNvPr id="11" name="Shape 9"/>
          <p:cNvSpPr/>
          <p:nvPr/>
        </p:nvSpPr>
        <p:spPr>
          <a:xfrm>
            <a:off x="4572000" y="3657600"/>
            <a:ext cx="1920240" cy="1234440"/>
          </a:xfrm>
          <a:prstGeom prst="rect">
            <a:avLst/>
          </a:prstGeom>
          <a:solidFill>
            <a:srgbClr val="0F172A"/>
          </a:solidFill>
          <a:ln w="12700">
            <a:solidFill>
              <a:srgbClr val="06B6D4"/>
            </a:solidFill>
            <a:prstDash val="solid"/>
          </a:ln>
        </p:spPr>
      </p:sp>
      <p:sp>
        <p:nvSpPr>
          <p:cNvPr id="12" name="Text 10"/>
          <p:cNvSpPr/>
          <p:nvPr/>
        </p:nvSpPr>
        <p:spPr>
          <a:xfrm>
            <a:off x="4572000" y="3730752"/>
            <a:ext cx="1920240" cy="502920"/>
          </a:xfrm>
          <a:prstGeom prst="rect">
            <a:avLst/>
          </a:prstGeom>
          <a:noFill/>
          <a:ln/>
        </p:spPr>
        <p:txBody>
          <a:bodyPr wrap="square" rtlCol="0" anchor="ctr"/>
          <a:lstStyle/>
          <a:p>
            <a:pPr marL="0" indent="0" algn="ctr">
              <a:buNone/>
            </a:pPr>
            <a:r>
              <a:rPr lang="en-US" sz="1600" b="1" dirty="0">
                <a:solidFill>
                  <a:srgbClr val="06B6D4"/>
                </a:solidFill>
                <a:latin typeface="Calibri" pitchFamily="34" charset="0"/>
                <a:ea typeface="Calibri" pitchFamily="34" charset="-122"/>
                <a:cs typeface="Calibri" pitchFamily="34" charset="-120"/>
              </a:rPr>
              <a:t>Clean Data</a:t>
            </a:r>
            <a:endParaRPr lang="en-US" sz="1600" dirty="0"/>
          </a:p>
        </p:txBody>
      </p:sp>
      <p:sp>
        <p:nvSpPr>
          <p:cNvPr id="13" name="Text 11"/>
          <p:cNvSpPr/>
          <p:nvPr/>
        </p:nvSpPr>
        <p:spPr>
          <a:xfrm>
            <a:off x="4572000" y="4224528"/>
            <a:ext cx="1920240" cy="365760"/>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0 Missing Values</a:t>
            </a:r>
            <a:endParaRPr lang="en-US" sz="1100" dirty="0"/>
          </a:p>
        </p:txBody>
      </p:sp>
      <p:sp>
        <p:nvSpPr>
          <p:cNvPr id="15" name="Text 13"/>
          <p:cNvSpPr/>
          <p:nvPr/>
        </p:nvSpPr>
        <p:spPr>
          <a:xfrm>
            <a:off x="6675120" y="3730752"/>
            <a:ext cx="1920240" cy="502920"/>
          </a:xfrm>
          <a:prstGeom prst="rect">
            <a:avLst/>
          </a:prstGeom>
          <a:noFill/>
          <a:ln/>
        </p:spPr>
        <p:txBody>
          <a:bodyPr wrap="square" rtlCol="0" anchor="ctr"/>
          <a:lstStyle/>
          <a:p>
            <a:pPr marL="0" indent="0" algn="ctr">
              <a:buNone/>
            </a:pPr>
            <a:endParaRPr lang="en-US" sz="1600" dirty="0"/>
          </a:p>
        </p:txBody>
      </p:sp>
      <p:sp>
        <p:nvSpPr>
          <p:cNvPr id="16" name="Text 14"/>
          <p:cNvSpPr/>
          <p:nvPr/>
        </p:nvSpPr>
        <p:spPr>
          <a:xfrm>
            <a:off x="6675120" y="4224528"/>
            <a:ext cx="1920240" cy="365760"/>
          </a:xfrm>
          <a:prstGeom prst="rect">
            <a:avLst/>
          </a:prstGeom>
          <a:noFill/>
          <a:ln/>
        </p:spPr>
        <p:txBody>
          <a:bodyPr wrap="square" rtlCol="0" anchor="ctr"/>
          <a:lstStyle/>
          <a:p>
            <a:pPr marL="0" indent="0" algn="ctr">
              <a:buNone/>
            </a:pPr>
            <a:endParaRPr lang="en-US" sz="1100" dirty="0"/>
          </a:p>
        </p:txBody>
      </p:sp>
      <p:sp>
        <p:nvSpPr>
          <p:cNvPr id="17" name="Shape 15"/>
          <p:cNvSpPr/>
          <p:nvPr/>
        </p:nvSpPr>
        <p:spPr>
          <a:xfrm>
            <a:off x="0" y="5070348"/>
            <a:ext cx="9144000" cy="73152"/>
          </a:xfrm>
          <a:prstGeom prst="rect">
            <a:avLst/>
          </a:prstGeom>
          <a:solidFill>
            <a:srgbClr val="2563EB"/>
          </a:solidFill>
          <a:ln w="12700">
            <a:solidFill>
              <a:srgbClr val="2563EB"/>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1132</Words>
  <Application>Microsoft Office PowerPoint</Application>
  <PresentationFormat>On-screen Show (16:9)</PresentationFormat>
  <Paragraphs>96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Housing Price Prediction</dc:title>
  <dc:subject>PptxGenJS Presentation</dc:subject>
  <dc:creator>PptxGenJS</dc:creator>
  <cp:lastModifiedBy>CHANDRU S</cp:lastModifiedBy>
  <cp:revision>2</cp:revision>
  <dcterms:created xsi:type="dcterms:W3CDTF">2026-04-16T04:21:16Z</dcterms:created>
  <dcterms:modified xsi:type="dcterms:W3CDTF">2026-04-16T04:34:47Z</dcterms:modified>
</cp:coreProperties>
</file>